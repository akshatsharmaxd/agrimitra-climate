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production lost</c:v>
                </c:pt>
              </c:strCache>
            </c:strRef>
          </c:tx>
          <c:spPr>
            <a:solidFill>
              <a:srgbClr val="157F3D"/>
            </a:solidFill>
            <a:effectLst/>
          </c:spPr>
          <c:invertIfNegative val="0"/>
          <c:dLbls>
            <c:numFmt formatCode="0.0&quot;%&quot;" sourceLinked="0"/>
            <c:txPr>
              <a:bodyPr/>
              <a:lstStyle/>
              <a:p>
                <a:pPr>
                  <a:defRPr b="0" i="0" strike="noStrike" sz="1100" u="none">
                    <a:solidFill>
                      <a:srgbClr val="15211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Weeds</c:v>
                  </c:pt>
                  <c:pt idx="1">
                    <c:v>Insect pests</c:v>
                  </c:pt>
                  <c:pt idx="2">
                    <c:v>Disease</c:v>
                  </c:pt>
                  <c:pt idx="3">
                    <c:v>Other pests</c:v>
                  </c:pt>
                </c:lvl>
              </c:multiLvlStrCache>
            </c:multiLvlStrRef>
          </c:cat>
          <c:val>
            <c:numRef>
              <c:f>Sheet1!$B$2:$B$5</c:f>
              <c:numCache>
                <c:formatCode>General</c:formatCode>
                <c:ptCount val="4"/>
                <c:pt idx="0">
                  <c:v>12.5</c:v>
                </c:pt>
                <c:pt idx="1">
                  <c:v>9.5</c:v>
                </c:pt>
                <c:pt idx="2">
                  <c:v>6.5</c:v>
                </c:pt>
                <c:pt idx="3">
                  <c:v>4.5</c:v>
                </c:pt>
              </c:numCache>
            </c:numRef>
          </c:val>
        </c:ser>
        <c:dLbls>
          <c:numFmt formatCode="0.0&quot;%&quot;" sourceLinked="0"/>
          <c:txPr>
            <a:bodyPr/>
            <a:lstStyle/>
            <a:p>
              <a:pPr>
                <a:defRPr b="0" i="0" strike="noStrike" sz="1100" u="none">
                  <a:solidFill>
                    <a:srgbClr val="15211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5211A"/>
                </a:solidFill>
                <a:latin typeface="Calibri"/>
              </a:defRPr>
            </a:pPr>
            <a:endParaRPr lang="en-US"/>
          </a:p>
        </c:txPr>
        <c:crossAx val="2094734552"/>
        <c:crosses val="autoZero"/>
        <c:auto val="1"/>
        <c:lblAlgn val="ctr"/>
        <c:noMultiLvlLbl val="1"/>
      </c:catAx>
      <c:valAx>
        <c:axId val="2094734552"/>
        <c:scaling>
          <c:orientation val="minMax"/>
          <c:max val="14"/>
        </c:scaling>
        <c:delete val="0"/>
        <c:axPos val="b"/>
        <c:majorGridlines>
          <c:spPr>
            <a:ln w="9525" cap="flat">
              <a:solidFill>
                <a:srgbClr val="CFE0C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86A"/>
                </a:solidFill>
                <a:latin typeface="Calibri"/>
              </a:defRPr>
            </a:pPr>
            <a:endParaRPr lang="en-US"/>
          </a:p>
        </c:txPr>
        <c:crossAx val="2094734554"/>
        <c:crosses val="autoZero"/>
        <c:crossBetween val="between"/>
      </c:valAx>
      <c:spPr>
        <a:solidFill>
          <a:srgbClr val="F2F7EF"/>
        </a:solidFill>
        <a:ln>
          <a:noFill/>
        </a:ln>
        <a:effectLst/>
      </c:spPr>
    </c:plotArea>
    <c:plotVisOnly val="1"/>
    <c:dispBlanksAs val="span"/>
  </c:chart>
  <c:spPr>
    <a:solidFill>
      <a:srgbClr val="F2F7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gap, not the product. 86% of Indian farmers work under two hectares. One extension officer covers roughly a thousand of them. Between 15 and 25 percent of yield is lost to pests and disease every year — up to 1.4 lakh crore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user concrete. The problem is not a missing forecast — it is that nothing turns the forecast into a decision for this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Weeds 12.5, insects 9.5, disease 6.5, other 4.5 — 33 percent combined. All of it detectable days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real gaps. Note the last one — states cannot share models — that is the one the challenge brief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architectural rule is the important line: deterministic logic computes, Gemini explains. A language model never produces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Competitors present estimates as measurements; this one is structurally incapable of doing that, because provenance is required by the type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top-left quadrant is empty — field-level decisions, farmer-facing. That is the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competitors here. Naming our own gap — unproven at scale — buys credibility for everything else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has a caller. Nothing is listed that a user cannot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part of the brief nobody else will have built: interoperability as a published schema, with privacy enforced in code rather than promised in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the bugs is deliberate. It demonstrates that the system was tested rather than demoed, and every one of these was found by running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Federation first — it is the only unmet requirement in the brief, and it is about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audiences. The third — for the state — is what turns a hackathon app into a digital public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6EFE1"/>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GOOGLE AI BUILDER CUP · AGRICULTURE &amp; CLIMATE</a:t>
            </a:r>
            <a:endParaRPr lang="en-US" sz="1000" dirty="0"/>
          </a:p>
        </p:txBody>
      </p:sp>
      <p:sp>
        <p:nvSpPr>
          <p:cNvPr id="3" name="Text 1"/>
          <p:cNvSpPr txBox="1"/>
          <p:nvPr/>
        </p:nvSpPr>
        <p:spPr>
          <a:xfrm>
            <a:off x="658368" y="914400"/>
            <a:ext cx="10874959" cy="1737360"/>
          </a:xfrm>
          <a:prstGeom prst="rect">
            <a:avLst/>
          </a:prstGeom>
          <a:noFill/>
          <a:ln/>
        </p:spPr>
        <p:txBody>
          <a:bodyPr wrap="square" lIns="0" tIns="0" rIns="0" bIns="0" rtlCol="0" anchor="t"/>
          <a:lstStyle/>
          <a:p>
            <a:pPr indent="0" marL="0">
              <a:lnSpc>
                <a:spcPct val="92000"/>
              </a:lnSpc>
              <a:buNone/>
            </a:pPr>
            <a:r>
              <a:rPr lang="en-US" sz="5200" b="1" dirty="0">
                <a:solidFill>
                  <a:srgbClr val="15211A"/>
                </a:solidFill>
                <a:latin typeface="Cambria" pitchFamily="34" charset="0"/>
                <a:ea typeface="Cambria" pitchFamily="34" charset="-122"/>
                <a:cs typeface="Cambria" pitchFamily="34" charset="-120"/>
              </a:rPr>
              <a:t>The advisory a</a:t>
            </a:r>
            <a:endParaRPr lang="en-US" sz="5200" dirty="0"/>
          </a:p>
          <a:p>
            <a:pPr indent="0" marL="0">
              <a:lnSpc>
                <a:spcPct val="92000"/>
              </a:lnSpc>
              <a:buNone/>
            </a:pPr>
            <a:r>
              <a:rPr lang="en-US" sz="5200" b="1" dirty="0">
                <a:solidFill>
                  <a:srgbClr val="15211A"/>
                </a:solidFill>
                <a:latin typeface="Cambria" pitchFamily="34" charset="0"/>
                <a:ea typeface="Cambria" pitchFamily="34" charset="-122"/>
                <a:cs typeface="Cambria" pitchFamily="34" charset="-120"/>
              </a:rPr>
              <a:t>farmer never gets.</a:t>
            </a:r>
            <a:endParaRPr lang="en-US" sz="5200" dirty="0"/>
          </a:p>
        </p:txBody>
      </p:sp>
      <p:sp>
        <p:nvSpPr>
          <p:cNvPr id="4" name="Text 2"/>
          <p:cNvSpPr txBox="1"/>
          <p:nvPr/>
        </p:nvSpPr>
        <p:spPr>
          <a:xfrm>
            <a:off x="658368" y="278892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AgriMitra Climate reads a specific field — its weather, its satellite vegetation, its soil, its crop — and returns one decision for the week ahead, with every assumption shown.</a:t>
            </a:r>
            <a:endParaRPr lang="en-US" sz="1400" dirty="0"/>
          </a:p>
        </p:txBody>
      </p:sp>
      <p:sp>
        <p:nvSpPr>
          <p:cNvPr id="5" name="Shape 3"/>
          <p:cNvSpPr/>
          <p:nvPr/>
        </p:nvSpPr>
        <p:spPr>
          <a:xfrm>
            <a:off x="658368" y="4069080"/>
            <a:ext cx="32004" cy="1051560"/>
          </a:xfrm>
          <a:prstGeom prst="rect">
            <a:avLst/>
          </a:prstGeom>
          <a:solidFill>
            <a:srgbClr val="157F3D"/>
          </a:solidFill>
          <a:ln/>
        </p:spPr>
      </p:sp>
      <p:sp>
        <p:nvSpPr>
          <p:cNvPr id="6" name="Text 4"/>
          <p:cNvSpPr txBox="1"/>
          <p:nvPr/>
        </p:nvSpPr>
        <p:spPr>
          <a:xfrm>
            <a:off x="804672" y="4014216"/>
            <a:ext cx="2435276" cy="566928"/>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86%</a:t>
            </a:r>
            <a:endParaRPr lang="en-US" sz="3000" dirty="0"/>
          </a:p>
        </p:txBody>
      </p:sp>
      <p:sp>
        <p:nvSpPr>
          <p:cNvPr id="7" name="Text 5"/>
          <p:cNvSpPr txBox="1"/>
          <p:nvPr/>
        </p:nvSpPr>
        <p:spPr>
          <a:xfrm>
            <a:off x="804672" y="4581144"/>
            <a:ext cx="2398700" cy="530352"/>
          </a:xfrm>
          <a:prstGeom prst="rect">
            <a:avLst/>
          </a:prstGeom>
          <a:noFill/>
          <a:ln/>
        </p:spPr>
        <p:txBody>
          <a:bodyPr wrap="square" lIns="0" tIns="0" rIns="0" bIns="0" rtlCol="0" anchor="t"/>
          <a:lstStyle/>
          <a:p>
            <a:pPr indent="0" marL="0">
              <a:lnSpc>
                <a:spcPct val="110000"/>
              </a:lnSpc>
              <a:buNone/>
            </a:pPr>
            <a:r>
              <a:rPr lang="en-US" sz="1000" dirty="0">
                <a:solidFill>
                  <a:srgbClr val="425446"/>
                </a:solidFill>
                <a:latin typeface="Calibri" pitchFamily="34" charset="0"/>
                <a:ea typeface="Calibri" pitchFamily="34" charset="-122"/>
                <a:cs typeface="Calibri" pitchFamily="34" charset="-120"/>
              </a:rPr>
              <a:t>of Indian farmers hold under 2 hectares</a:t>
            </a:r>
            <a:endParaRPr lang="en-US" sz="1000" dirty="0"/>
          </a:p>
        </p:txBody>
      </p:sp>
      <p:sp>
        <p:nvSpPr>
          <p:cNvPr id="8" name="Shape 6"/>
          <p:cNvSpPr/>
          <p:nvPr/>
        </p:nvSpPr>
        <p:spPr>
          <a:xfrm>
            <a:off x="3422828" y="4069080"/>
            <a:ext cx="32004" cy="1051560"/>
          </a:xfrm>
          <a:prstGeom prst="rect">
            <a:avLst/>
          </a:prstGeom>
          <a:solidFill>
            <a:srgbClr val="D98A00"/>
          </a:solidFill>
          <a:ln/>
        </p:spPr>
      </p:sp>
      <p:sp>
        <p:nvSpPr>
          <p:cNvPr id="9" name="Text 7"/>
          <p:cNvSpPr txBox="1"/>
          <p:nvPr/>
        </p:nvSpPr>
        <p:spPr>
          <a:xfrm>
            <a:off x="3569132" y="4014216"/>
            <a:ext cx="2435276" cy="566928"/>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1:1000</a:t>
            </a:r>
            <a:endParaRPr lang="en-US" sz="3000" dirty="0"/>
          </a:p>
        </p:txBody>
      </p:sp>
      <p:sp>
        <p:nvSpPr>
          <p:cNvPr id="10" name="Text 8"/>
          <p:cNvSpPr txBox="1"/>
          <p:nvPr/>
        </p:nvSpPr>
        <p:spPr>
          <a:xfrm>
            <a:off x="3569132" y="4581144"/>
            <a:ext cx="2398700" cy="530352"/>
          </a:xfrm>
          <a:prstGeom prst="rect">
            <a:avLst/>
          </a:prstGeom>
          <a:noFill/>
          <a:ln/>
        </p:spPr>
        <p:txBody>
          <a:bodyPr wrap="square" lIns="0" tIns="0" rIns="0" bIns="0" rtlCol="0" anchor="t"/>
          <a:lstStyle/>
          <a:p>
            <a:pPr indent="0" marL="0">
              <a:lnSpc>
                <a:spcPct val="110000"/>
              </a:lnSpc>
              <a:buNone/>
            </a:pPr>
            <a:r>
              <a:rPr lang="en-US" sz="1000" dirty="0">
                <a:solidFill>
                  <a:srgbClr val="425446"/>
                </a:solidFill>
                <a:latin typeface="Calibri" pitchFamily="34" charset="0"/>
                <a:ea typeface="Calibri" pitchFamily="34" charset="-122"/>
                <a:cs typeface="Calibri" pitchFamily="34" charset="-120"/>
              </a:rPr>
              <a:t>extension officers to farmers</a:t>
            </a:r>
            <a:endParaRPr lang="en-US" sz="1000" dirty="0"/>
          </a:p>
        </p:txBody>
      </p:sp>
      <p:sp>
        <p:nvSpPr>
          <p:cNvPr id="11" name="Shape 9"/>
          <p:cNvSpPr/>
          <p:nvPr/>
        </p:nvSpPr>
        <p:spPr>
          <a:xfrm>
            <a:off x="6187288" y="4069080"/>
            <a:ext cx="32004" cy="1051560"/>
          </a:xfrm>
          <a:prstGeom prst="rect">
            <a:avLst/>
          </a:prstGeom>
          <a:solidFill>
            <a:srgbClr val="1F6FB2"/>
          </a:solidFill>
          <a:ln/>
        </p:spPr>
      </p:sp>
      <p:sp>
        <p:nvSpPr>
          <p:cNvPr id="12" name="Text 10"/>
          <p:cNvSpPr txBox="1"/>
          <p:nvPr/>
        </p:nvSpPr>
        <p:spPr>
          <a:xfrm>
            <a:off x="6333592" y="4014216"/>
            <a:ext cx="2435276" cy="566928"/>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15–25%</a:t>
            </a:r>
            <a:endParaRPr lang="en-US" sz="3000" dirty="0"/>
          </a:p>
        </p:txBody>
      </p:sp>
      <p:sp>
        <p:nvSpPr>
          <p:cNvPr id="13" name="Text 11"/>
          <p:cNvSpPr txBox="1"/>
          <p:nvPr/>
        </p:nvSpPr>
        <p:spPr>
          <a:xfrm>
            <a:off x="6333592" y="4581144"/>
            <a:ext cx="2398700" cy="530352"/>
          </a:xfrm>
          <a:prstGeom prst="rect">
            <a:avLst/>
          </a:prstGeom>
          <a:noFill/>
          <a:ln/>
        </p:spPr>
        <p:txBody>
          <a:bodyPr wrap="square" lIns="0" tIns="0" rIns="0" bIns="0" rtlCol="0" anchor="t"/>
          <a:lstStyle/>
          <a:p>
            <a:pPr indent="0" marL="0">
              <a:lnSpc>
                <a:spcPct val="110000"/>
              </a:lnSpc>
              <a:buNone/>
            </a:pPr>
            <a:r>
              <a:rPr lang="en-US" sz="1000" dirty="0">
                <a:solidFill>
                  <a:srgbClr val="425446"/>
                </a:solidFill>
                <a:latin typeface="Calibri" pitchFamily="34" charset="0"/>
                <a:ea typeface="Calibri" pitchFamily="34" charset="-122"/>
                <a:cs typeface="Calibri" pitchFamily="34" charset="-120"/>
              </a:rPr>
              <a:t>of yield lost to pests and disease</a:t>
            </a:r>
            <a:endParaRPr lang="en-US" sz="1000" dirty="0"/>
          </a:p>
        </p:txBody>
      </p:sp>
      <p:sp>
        <p:nvSpPr>
          <p:cNvPr id="14" name="Shape 12"/>
          <p:cNvSpPr/>
          <p:nvPr/>
        </p:nvSpPr>
        <p:spPr>
          <a:xfrm>
            <a:off x="8951747" y="4069080"/>
            <a:ext cx="32004" cy="1051560"/>
          </a:xfrm>
          <a:prstGeom prst="rect">
            <a:avLst/>
          </a:prstGeom>
          <a:solidFill>
            <a:srgbClr val="B02A6E"/>
          </a:solidFill>
          <a:ln/>
        </p:spPr>
      </p:sp>
      <p:sp>
        <p:nvSpPr>
          <p:cNvPr id="15" name="Text 13"/>
          <p:cNvSpPr txBox="1"/>
          <p:nvPr/>
        </p:nvSpPr>
        <p:spPr>
          <a:xfrm>
            <a:off x="9098051" y="4014216"/>
            <a:ext cx="2435276" cy="566928"/>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₹1.4L cr</a:t>
            </a:r>
            <a:endParaRPr lang="en-US" sz="3000" dirty="0"/>
          </a:p>
        </p:txBody>
      </p:sp>
      <p:sp>
        <p:nvSpPr>
          <p:cNvPr id="16" name="Text 14"/>
          <p:cNvSpPr txBox="1"/>
          <p:nvPr/>
        </p:nvSpPr>
        <p:spPr>
          <a:xfrm>
            <a:off x="9098051" y="4581144"/>
            <a:ext cx="2398700" cy="530352"/>
          </a:xfrm>
          <a:prstGeom prst="rect">
            <a:avLst/>
          </a:prstGeom>
          <a:noFill/>
          <a:ln/>
        </p:spPr>
        <p:txBody>
          <a:bodyPr wrap="square" lIns="0" tIns="0" rIns="0" bIns="0" rtlCol="0" anchor="t"/>
          <a:lstStyle/>
          <a:p>
            <a:pPr indent="0" marL="0">
              <a:lnSpc>
                <a:spcPct val="110000"/>
              </a:lnSpc>
              <a:buNone/>
            </a:pPr>
            <a:r>
              <a:rPr lang="en-US" sz="1000" dirty="0">
                <a:solidFill>
                  <a:srgbClr val="425446"/>
                </a:solidFill>
                <a:latin typeface="Calibri" pitchFamily="34" charset="0"/>
                <a:ea typeface="Calibri" pitchFamily="34" charset="-122"/>
                <a:cs typeface="Calibri" pitchFamily="34" charset="-120"/>
              </a:rPr>
              <a:t>upper bound of that loss, annually</a:t>
            </a:r>
            <a:endParaRPr lang="en-US" sz="1000" dirty="0"/>
          </a:p>
        </p:txBody>
      </p:sp>
      <p:sp>
        <p:nvSpPr>
          <p:cNvPr id="17" name="Text 15"/>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EF"/>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THE USER</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Ravi farms 0.8 hectares in Alwar.</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He knows rain is coming. What he does not know is whether, given his loamy soil, his limited irrigation, the state of his wheat this week and the forecast, he should irrigate now or wait.</a:t>
            </a:r>
            <a:endParaRPr lang="en-US" sz="1400" dirty="0"/>
          </a:p>
        </p:txBody>
      </p:sp>
      <p:sp>
        <p:nvSpPr>
          <p:cNvPr id="5" name="Text 3"/>
          <p:cNvSpPr txBox="1"/>
          <p:nvPr/>
        </p:nvSpPr>
        <p:spPr>
          <a:xfrm>
            <a:off x="658368" y="2788920"/>
            <a:ext cx="5981228" cy="2194560"/>
          </a:xfrm>
          <a:prstGeom prst="rect">
            <a:avLst/>
          </a:prstGeom>
          <a:noFill/>
          <a:ln/>
        </p:spPr>
        <p:txBody>
          <a:bodyPr wrap="square" lIns="0" tIns="0" rIns="0" bIns="0" rtlCol="0" anchor="t"/>
          <a:lstStyle/>
          <a:p>
            <a:pPr indent="0" marL="0">
              <a:lnSpc>
                <a:spcPct val="125000"/>
              </a:lnSpc>
              <a:spcAft>
                <a:spcPts val="600"/>
              </a:spcAft>
              <a:buNone/>
            </a:pPr>
            <a:r>
              <a:rPr lang="en-US" sz="1150" dirty="0">
                <a:solidFill>
                  <a:srgbClr val="425446"/>
                </a:solidFill>
                <a:latin typeface="Calibri" pitchFamily="34" charset="0"/>
                <a:ea typeface="Calibri" pitchFamily="34" charset="-122"/>
                <a:cs typeface="Calibri" pitchFamily="34" charset="-120"/>
              </a:rPr>
              <a:t>—  The nearest extension officer covers roughly a thousand farms like his.</a:t>
            </a:r>
            <a:endParaRPr lang="en-US" sz="1150" dirty="0"/>
          </a:p>
          <a:p>
            <a:pPr indent="0" marL="0">
              <a:lnSpc>
                <a:spcPct val="125000"/>
              </a:lnSpc>
              <a:spcAft>
                <a:spcPts val="600"/>
              </a:spcAft>
              <a:buNone/>
            </a:pPr>
            <a:r>
              <a:rPr lang="en-US" sz="1150" dirty="0">
                <a:solidFill>
                  <a:srgbClr val="425446"/>
                </a:solidFill>
                <a:latin typeface="Calibri" pitchFamily="34" charset="0"/>
                <a:ea typeface="Calibri" pitchFamily="34" charset="-122"/>
                <a:cs typeface="Calibri" pitchFamily="34" charset="-120"/>
              </a:rPr>
              <a:t>—  Weather apps give a forecast, not a decision.</a:t>
            </a:r>
            <a:endParaRPr lang="en-US" sz="1150" dirty="0"/>
          </a:p>
          <a:p>
            <a:pPr indent="0" marL="0">
              <a:lnSpc>
                <a:spcPct val="125000"/>
              </a:lnSpc>
              <a:spcAft>
                <a:spcPts val="600"/>
              </a:spcAft>
              <a:buNone/>
            </a:pPr>
            <a:r>
              <a:rPr lang="en-US" sz="1150" dirty="0">
                <a:solidFill>
                  <a:srgbClr val="425446"/>
                </a:solidFill>
                <a:latin typeface="Calibri" pitchFamily="34" charset="0"/>
                <a:ea typeface="Calibri" pitchFamily="34" charset="-122"/>
                <a:cs typeface="Calibri" pitchFamily="34" charset="-120"/>
              </a:rPr>
              <a:t>—  A disease scanner names a disease, then stops.</a:t>
            </a:r>
            <a:endParaRPr lang="en-US" sz="1150" dirty="0"/>
          </a:p>
          <a:p>
            <a:pPr indent="0" marL="0">
              <a:lnSpc>
                <a:spcPct val="125000"/>
              </a:lnSpc>
              <a:spcAft>
                <a:spcPts val="600"/>
              </a:spcAft>
              <a:buNone/>
            </a:pPr>
            <a:r>
              <a:rPr lang="en-US" sz="1150" dirty="0">
                <a:solidFill>
                  <a:srgbClr val="425446"/>
                </a:solidFill>
                <a:latin typeface="Calibri" pitchFamily="34" charset="0"/>
                <a:ea typeface="Calibri" pitchFamily="34" charset="-122"/>
                <a:cs typeface="Calibri" pitchFamily="34" charset="-120"/>
              </a:rPr>
              <a:t>—  Advice on WhatsApp is generic to the district, not to the field.</a:t>
            </a:r>
            <a:endParaRPr lang="en-US" sz="1150" dirty="0"/>
          </a:p>
        </p:txBody>
      </p:sp>
      <p:sp>
        <p:nvSpPr>
          <p:cNvPr id="6" name="Shape 4"/>
          <p:cNvSpPr/>
          <p:nvPr/>
        </p:nvSpPr>
        <p:spPr>
          <a:xfrm>
            <a:off x="7635240" y="2788920"/>
            <a:ext cx="32004" cy="1371600"/>
          </a:xfrm>
          <a:prstGeom prst="rect">
            <a:avLst/>
          </a:prstGeom>
          <a:solidFill>
            <a:srgbClr val="D98A00"/>
          </a:solidFill>
          <a:ln/>
        </p:spPr>
      </p:sp>
      <p:sp>
        <p:nvSpPr>
          <p:cNvPr id="7" name="Text 5"/>
          <p:cNvSpPr txBox="1"/>
          <p:nvPr/>
        </p:nvSpPr>
        <p:spPr>
          <a:xfrm>
            <a:off x="7863840" y="2743200"/>
            <a:ext cx="3291840" cy="1463040"/>
          </a:xfrm>
          <a:prstGeom prst="rect">
            <a:avLst/>
          </a:prstGeom>
          <a:noFill/>
          <a:ln/>
        </p:spPr>
        <p:txBody>
          <a:bodyPr wrap="square" lIns="0" tIns="0" rIns="0" bIns="0" rtlCol="0" anchor="t"/>
          <a:lstStyle/>
          <a:p>
            <a:pPr indent="0" marL="0">
              <a:lnSpc>
                <a:spcPct val="115000"/>
              </a:lnSpc>
              <a:buNone/>
            </a:pPr>
            <a:r>
              <a:rPr lang="en-US" sz="2000" i="1" dirty="0">
                <a:solidFill>
                  <a:srgbClr val="15211A"/>
                </a:solidFill>
                <a:latin typeface="Cambria" pitchFamily="34" charset="0"/>
                <a:ea typeface="Cambria" pitchFamily="34" charset="-122"/>
                <a:cs typeface="Cambria" pitchFamily="34" charset="-120"/>
              </a:rPr>
              <a:t>Rain is coming. So — do I irrigate today, or lose the window?</a:t>
            </a:r>
            <a:endParaRPr lang="en-US" sz="2000" dirty="0"/>
          </a:p>
        </p:txBody>
      </p:sp>
      <p:sp>
        <p:nvSpPr>
          <p:cNvPr id="8" name="Text 6"/>
          <p:cNvSpPr txBox="1"/>
          <p:nvPr/>
        </p:nvSpPr>
        <p:spPr>
          <a:xfrm>
            <a:off x="7863840" y="4434840"/>
            <a:ext cx="3291840" cy="1005840"/>
          </a:xfrm>
          <a:prstGeom prst="rect">
            <a:avLst/>
          </a:prstGeom>
          <a:noFill/>
          <a:ln/>
        </p:spPr>
        <p:txBody>
          <a:bodyPr wrap="square" lIns="0" tIns="0" rIns="0" bIns="0" rtlCol="0" anchor="t"/>
          <a:lstStyle/>
          <a:p>
            <a:pPr indent="0" marL="0">
              <a:lnSpc>
                <a:spcPct val="120000"/>
              </a:lnSpc>
              <a:buNone/>
            </a:pPr>
            <a:r>
              <a:rPr lang="en-US" sz="1050" dirty="0">
                <a:solidFill>
                  <a:srgbClr val="64786A"/>
                </a:solidFill>
                <a:latin typeface="Calibri" pitchFamily="34" charset="0"/>
                <a:ea typeface="Calibri" pitchFamily="34" charset="-122"/>
                <a:cs typeface="Calibri" pitchFamily="34" charset="-120"/>
              </a:rPr>
              <a:t>Farmers who receive early, accurate guidance cut crop losses by 30–60%. The signal exists. It does not reach the field in a form anyone can act on.</a:t>
            </a:r>
            <a:endParaRPr lang="en-US" sz="1050" dirty="0"/>
          </a:p>
        </p:txBody>
      </p:sp>
      <p:sp>
        <p:nvSpPr>
          <p:cNvPr id="9" name="Text 7"/>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EF"/>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PROBLEM · MAGNITUDE</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A third of the crop is lost before it leaves the field.</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Share of Indian production lost, by cause. Every one of these is visible in a leaf or a soil-moisture reading days before it becomes a loss.</a:t>
            </a:r>
            <a:endParaRPr lang="en-US" sz="1400" dirty="0"/>
          </a:p>
        </p:txBody>
      </p:sp>
      <p:graphicFrame>
        <p:nvGraphicFramePr>
          <p:cNvPr id="5" name="Chart 0" descr=""/>
          <p:cNvGraphicFramePr/>
          <p:nvPr/>
        </p:nvGraphicFramePr>
        <p:xfrm>
          <a:off x="658368" y="2606040"/>
          <a:ext cx="7829971"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9692640" y="3017520"/>
            <a:ext cx="1828800" cy="548640"/>
          </a:xfrm>
          <a:prstGeom prst="rect">
            <a:avLst/>
          </a:prstGeom>
          <a:noFill/>
          <a:ln/>
        </p:spPr>
        <p:txBody>
          <a:bodyPr wrap="square" lIns="0" tIns="0" rIns="0" bIns="0" rtlCol="0" anchor="ctr"/>
          <a:lstStyle/>
          <a:p>
            <a:pPr indent="0" marL="0">
              <a:buNone/>
            </a:pPr>
            <a:r>
              <a:rPr lang="en-US" sz="4000" b="1" dirty="0">
                <a:solidFill>
                  <a:srgbClr val="D98A00"/>
                </a:solidFill>
                <a:latin typeface="Cambria" pitchFamily="34" charset="0"/>
                <a:ea typeface="Cambria" pitchFamily="34" charset="-122"/>
                <a:cs typeface="Cambria" pitchFamily="34" charset="-120"/>
              </a:rPr>
              <a:t>33%</a:t>
            </a:r>
            <a:endParaRPr lang="en-US" sz="4000" dirty="0"/>
          </a:p>
        </p:txBody>
      </p:sp>
      <p:sp>
        <p:nvSpPr>
          <p:cNvPr id="7" name="Text 4"/>
          <p:cNvSpPr txBox="1"/>
          <p:nvPr/>
        </p:nvSpPr>
        <p:spPr>
          <a:xfrm>
            <a:off x="9692640" y="3611880"/>
            <a:ext cx="1920240" cy="640080"/>
          </a:xfrm>
          <a:prstGeom prst="rect">
            <a:avLst/>
          </a:prstGeom>
          <a:noFill/>
          <a:ln/>
        </p:spPr>
        <p:txBody>
          <a:bodyPr wrap="square" lIns="0" tIns="0" rIns="0" bIns="0" rtlCol="0" anchor="ctr"/>
          <a:lstStyle/>
          <a:p>
            <a:pPr indent="0" marL="0">
              <a:buNone/>
            </a:pPr>
            <a:r>
              <a:rPr lang="en-US" sz="1100" dirty="0">
                <a:solidFill>
                  <a:srgbClr val="425446"/>
                </a:solidFill>
                <a:latin typeface="Calibri" pitchFamily="34" charset="0"/>
                <a:ea typeface="Calibri" pitchFamily="34" charset="-122"/>
                <a:cs typeface="Calibri" pitchFamily="34" charset="-120"/>
              </a:rPr>
              <a:t>combined loss</a:t>
            </a:r>
            <a:endParaRPr lang="en-US" sz="1100" dirty="0"/>
          </a:p>
          <a:p>
            <a:pPr indent="0" marL="0">
              <a:buNone/>
            </a:pPr>
            <a:r>
              <a:rPr lang="en-US" sz="1100" dirty="0">
                <a:solidFill>
                  <a:srgbClr val="425446"/>
                </a:solidFill>
                <a:latin typeface="Calibri" pitchFamily="34" charset="0"/>
                <a:ea typeface="Calibri" pitchFamily="34" charset="-122"/>
                <a:cs typeface="Calibri" pitchFamily="34" charset="-120"/>
              </a:rPr>
              <a:t>attributed to pests</a:t>
            </a:r>
            <a:endParaRPr lang="en-US" sz="1100" dirty="0"/>
          </a:p>
        </p:txBody>
      </p:sp>
      <p:sp>
        <p:nvSpPr>
          <p:cNvPr id="8" name="Text 5"/>
          <p:cNvSpPr txBox="1"/>
          <p:nvPr/>
        </p:nvSpPr>
        <p:spPr>
          <a:xfrm>
            <a:off x="658368" y="5943600"/>
            <a:ext cx="10874959" cy="274320"/>
          </a:xfrm>
          <a:prstGeom prst="rect">
            <a:avLst/>
          </a:prstGeom>
          <a:noFill/>
          <a:ln/>
        </p:spPr>
        <p:txBody>
          <a:bodyPr wrap="square" lIns="0" tIns="0" rIns="0" bIns="0" rtlCol="0" anchor="ctr"/>
          <a:lstStyle/>
          <a:p>
            <a:pPr indent="0" marL="0">
              <a:buNone/>
            </a:pPr>
            <a:r>
              <a:rPr lang="en-US" sz="900" dirty="0">
                <a:solidFill>
                  <a:srgbClr val="64786A"/>
                </a:solidFill>
                <a:latin typeface="Calibri" pitchFamily="34" charset="0"/>
                <a:ea typeface="Calibri" pitchFamily="34" charset="-122"/>
                <a:cs typeface="Calibri" pitchFamily="34" charset="-120"/>
              </a:rPr>
              <a:t>Shares are of total production loss attributed to pests in Indian agriculture.</a:t>
            </a:r>
            <a:endParaRPr lang="en-US" sz="900" dirty="0"/>
          </a:p>
        </p:txBody>
      </p:sp>
      <p:sp>
        <p:nvSpPr>
          <p:cNvPr id="9" name="Text 6"/>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6EFE1"/>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PROBLEM · WHY TODAY'S TOOLS MISS</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Six apps, no answer.</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The data a farmer needs already exists. It arrives in fragments, none of which knows about the others, and none of which knows the field.</a:t>
            </a:r>
            <a:endParaRPr lang="en-US" sz="1400" dirty="0"/>
          </a:p>
        </p:txBody>
      </p:sp>
      <p:sp>
        <p:nvSpPr>
          <p:cNvPr id="5" name="Shape 3"/>
          <p:cNvSpPr/>
          <p:nvPr/>
        </p:nvSpPr>
        <p:spPr>
          <a:xfrm>
            <a:off x="658368" y="2697480"/>
            <a:ext cx="3472586" cy="1508760"/>
          </a:xfrm>
          <a:prstGeom prst="roundRect">
            <a:avLst>
              <a:gd name="adj" fmla="val 3636"/>
            </a:avLst>
          </a:prstGeom>
          <a:solidFill>
            <a:srgbClr val="FFFFFF"/>
          </a:solidFill>
          <a:ln w="9525">
            <a:solidFill>
              <a:srgbClr val="CFE0C8"/>
            </a:solidFill>
            <a:prstDash val="solid"/>
          </a:ln>
        </p:spPr>
      </p:sp>
      <p:sp>
        <p:nvSpPr>
          <p:cNvPr id="6" name="Text 4"/>
          <p:cNvSpPr txBox="1"/>
          <p:nvPr/>
        </p:nvSpPr>
        <p:spPr>
          <a:xfrm>
            <a:off x="841248" y="2862072"/>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Weather is not advice</a:t>
            </a:r>
            <a:endParaRPr lang="en-US" sz="1250" dirty="0"/>
          </a:p>
        </p:txBody>
      </p:sp>
      <p:sp>
        <p:nvSpPr>
          <p:cNvPr id="7" name="Text 5"/>
          <p:cNvSpPr txBox="1"/>
          <p:nvPr/>
        </p:nvSpPr>
        <p:spPr>
          <a:xfrm>
            <a:off x="841248" y="3264408"/>
            <a:ext cx="3106826" cy="81381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A 7-day forecast is an input. Turning it into “irrigate Thursday, not today” needs the soil, the crop stage and the water available.</a:t>
            </a:r>
            <a:endParaRPr lang="en-US" sz="1000" dirty="0"/>
          </a:p>
        </p:txBody>
      </p:sp>
      <p:sp>
        <p:nvSpPr>
          <p:cNvPr id="8" name="Shape 6"/>
          <p:cNvSpPr/>
          <p:nvPr/>
        </p:nvSpPr>
        <p:spPr>
          <a:xfrm>
            <a:off x="4359554" y="2697480"/>
            <a:ext cx="3472586" cy="1508760"/>
          </a:xfrm>
          <a:prstGeom prst="roundRect">
            <a:avLst>
              <a:gd name="adj" fmla="val 3636"/>
            </a:avLst>
          </a:prstGeom>
          <a:solidFill>
            <a:srgbClr val="FFFFFF"/>
          </a:solidFill>
          <a:ln w="9525">
            <a:solidFill>
              <a:srgbClr val="CFE0C8"/>
            </a:solidFill>
            <a:prstDash val="solid"/>
          </a:ln>
        </p:spPr>
      </p:sp>
      <p:sp>
        <p:nvSpPr>
          <p:cNvPr id="9" name="Text 7"/>
          <p:cNvSpPr txBox="1"/>
          <p:nvPr/>
        </p:nvSpPr>
        <p:spPr>
          <a:xfrm>
            <a:off x="4542434" y="2862072"/>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Diagnosis stops at the name</a:t>
            </a:r>
            <a:endParaRPr lang="en-US" sz="1250" dirty="0"/>
          </a:p>
        </p:txBody>
      </p:sp>
      <p:sp>
        <p:nvSpPr>
          <p:cNvPr id="10" name="Text 8"/>
          <p:cNvSpPr txBox="1"/>
          <p:nvPr/>
        </p:nvSpPr>
        <p:spPr>
          <a:xfrm>
            <a:off x="4542434" y="3264408"/>
            <a:ext cx="3106826" cy="81381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A scanner returns “Early blight” and ends. It never reaches the risk score, and never changes what the farmer does next.</a:t>
            </a:r>
            <a:endParaRPr lang="en-US" sz="1000" dirty="0"/>
          </a:p>
        </p:txBody>
      </p:sp>
      <p:sp>
        <p:nvSpPr>
          <p:cNvPr id="11" name="Shape 9"/>
          <p:cNvSpPr/>
          <p:nvPr/>
        </p:nvSpPr>
        <p:spPr>
          <a:xfrm>
            <a:off x="8060741" y="2697480"/>
            <a:ext cx="3472586" cy="1508760"/>
          </a:xfrm>
          <a:prstGeom prst="roundRect">
            <a:avLst>
              <a:gd name="adj" fmla="val 3636"/>
            </a:avLst>
          </a:prstGeom>
          <a:solidFill>
            <a:srgbClr val="FFFFFF"/>
          </a:solidFill>
          <a:ln w="9525">
            <a:solidFill>
              <a:srgbClr val="CFE0C8"/>
            </a:solidFill>
            <a:prstDash val="solid"/>
          </a:ln>
        </p:spPr>
      </p:sp>
      <p:sp>
        <p:nvSpPr>
          <p:cNvPr id="12" name="Text 10"/>
          <p:cNvSpPr txBox="1"/>
          <p:nvPr/>
        </p:nvSpPr>
        <p:spPr>
          <a:xfrm>
            <a:off x="8243621" y="2862072"/>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Satellite stays with agronomists</a:t>
            </a:r>
            <a:endParaRPr lang="en-US" sz="1250" dirty="0"/>
          </a:p>
        </p:txBody>
      </p:sp>
      <p:sp>
        <p:nvSpPr>
          <p:cNvPr id="13" name="Text 11"/>
          <p:cNvSpPr txBox="1"/>
          <p:nvPr/>
        </p:nvSpPr>
        <p:spPr>
          <a:xfrm>
            <a:off x="8243621" y="3264408"/>
            <a:ext cx="3106826" cy="81381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NDVI is routine in enterprise platforms and absent from the farmer's phone.</a:t>
            </a:r>
            <a:endParaRPr lang="en-US" sz="1000" dirty="0"/>
          </a:p>
        </p:txBody>
      </p:sp>
      <p:sp>
        <p:nvSpPr>
          <p:cNvPr id="14" name="Shape 12"/>
          <p:cNvSpPr/>
          <p:nvPr/>
        </p:nvSpPr>
        <p:spPr>
          <a:xfrm>
            <a:off x="658368" y="4462272"/>
            <a:ext cx="3472586" cy="1508760"/>
          </a:xfrm>
          <a:prstGeom prst="roundRect">
            <a:avLst>
              <a:gd name="adj" fmla="val 3636"/>
            </a:avLst>
          </a:prstGeom>
          <a:solidFill>
            <a:srgbClr val="FFFFFF"/>
          </a:solidFill>
          <a:ln w="9525">
            <a:solidFill>
              <a:srgbClr val="CFE0C8"/>
            </a:solidFill>
            <a:prstDash val="solid"/>
          </a:ln>
        </p:spPr>
      </p:sp>
      <p:sp>
        <p:nvSpPr>
          <p:cNvPr id="15" name="Text 13"/>
          <p:cNvSpPr txBox="1"/>
          <p:nvPr/>
        </p:nvSpPr>
        <p:spPr>
          <a:xfrm>
            <a:off x="841248" y="4626864"/>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Advice is district-wide</a:t>
            </a:r>
            <a:endParaRPr lang="en-US" sz="1250" dirty="0"/>
          </a:p>
        </p:txBody>
      </p:sp>
      <p:sp>
        <p:nvSpPr>
          <p:cNvPr id="16" name="Text 14"/>
          <p:cNvSpPr txBox="1"/>
          <p:nvPr/>
        </p:nvSpPr>
        <p:spPr>
          <a:xfrm>
            <a:off x="841248" y="5029200"/>
            <a:ext cx="3106826" cy="81381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Two farms in one district with different soil and irrigation get identical guidance.</a:t>
            </a:r>
            <a:endParaRPr lang="en-US" sz="1000" dirty="0"/>
          </a:p>
        </p:txBody>
      </p:sp>
      <p:sp>
        <p:nvSpPr>
          <p:cNvPr id="17" name="Shape 15"/>
          <p:cNvSpPr/>
          <p:nvPr/>
        </p:nvSpPr>
        <p:spPr>
          <a:xfrm>
            <a:off x="4359554" y="4462272"/>
            <a:ext cx="3472586" cy="1508760"/>
          </a:xfrm>
          <a:prstGeom prst="roundRect">
            <a:avLst>
              <a:gd name="adj" fmla="val 3636"/>
            </a:avLst>
          </a:prstGeom>
          <a:solidFill>
            <a:srgbClr val="FFFFFF"/>
          </a:solidFill>
          <a:ln w="9525">
            <a:solidFill>
              <a:srgbClr val="CFE0C8"/>
            </a:solidFill>
            <a:prstDash val="solid"/>
          </a:ln>
        </p:spPr>
      </p:sp>
      <p:sp>
        <p:nvSpPr>
          <p:cNvPr id="18" name="Text 16"/>
          <p:cNvSpPr txBox="1"/>
          <p:nvPr/>
        </p:nvSpPr>
        <p:spPr>
          <a:xfrm>
            <a:off x="4542434" y="4626864"/>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Confidence is never shown</a:t>
            </a:r>
            <a:endParaRPr lang="en-US" sz="1250" dirty="0"/>
          </a:p>
        </p:txBody>
      </p:sp>
      <p:sp>
        <p:nvSpPr>
          <p:cNvPr id="19" name="Text 17"/>
          <p:cNvSpPr txBox="1"/>
          <p:nvPr/>
        </p:nvSpPr>
        <p:spPr>
          <a:xfrm>
            <a:off x="4542434" y="5029200"/>
            <a:ext cx="3106826" cy="81381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Tools present estimates as measurements. A farmer cannot tell which number to trust.</a:t>
            </a:r>
            <a:endParaRPr lang="en-US" sz="1000" dirty="0"/>
          </a:p>
        </p:txBody>
      </p:sp>
      <p:sp>
        <p:nvSpPr>
          <p:cNvPr id="20" name="Shape 18"/>
          <p:cNvSpPr/>
          <p:nvPr/>
        </p:nvSpPr>
        <p:spPr>
          <a:xfrm>
            <a:off x="8060741" y="4462272"/>
            <a:ext cx="3472586" cy="1508760"/>
          </a:xfrm>
          <a:prstGeom prst="roundRect">
            <a:avLst>
              <a:gd name="adj" fmla="val 3636"/>
            </a:avLst>
          </a:prstGeom>
          <a:solidFill>
            <a:srgbClr val="FFFFFF"/>
          </a:solidFill>
          <a:ln w="9525">
            <a:solidFill>
              <a:srgbClr val="CFE0C8"/>
            </a:solidFill>
            <a:prstDash val="solid"/>
          </a:ln>
        </p:spPr>
      </p:sp>
      <p:sp>
        <p:nvSpPr>
          <p:cNvPr id="21" name="Text 19"/>
          <p:cNvSpPr txBox="1"/>
          <p:nvPr/>
        </p:nvSpPr>
        <p:spPr>
          <a:xfrm>
            <a:off x="8243621" y="4626864"/>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States cannot share models</a:t>
            </a:r>
            <a:endParaRPr lang="en-US" sz="1250" dirty="0"/>
          </a:p>
        </p:txBody>
      </p:sp>
      <p:sp>
        <p:nvSpPr>
          <p:cNvPr id="22" name="Text 20"/>
          <p:cNvSpPr txBox="1"/>
          <p:nvPr/>
        </p:nvSpPr>
        <p:spPr>
          <a:xfrm>
            <a:off x="8243621" y="5029200"/>
            <a:ext cx="3106826" cy="81381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Every state rebuilds its own crop dataset and risk logic. Nothing is interoperable.</a:t>
            </a:r>
            <a:endParaRPr lang="en-US" sz="1000" dirty="0"/>
          </a:p>
        </p:txBody>
      </p:sp>
      <p:sp>
        <p:nvSpPr>
          <p:cNvPr id="23" name="Text 21"/>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EF"/>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THE SOLUTION</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One field. Five signals. One decision.</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Deterministic logic computes the score. Gemini explains it. The model never invents a measurement — an architectural rule, enforced in code.</a:t>
            </a:r>
            <a:endParaRPr lang="en-US" sz="1400" dirty="0"/>
          </a:p>
        </p:txBody>
      </p:sp>
      <p:sp>
        <p:nvSpPr>
          <p:cNvPr id="5" name="Text 3"/>
          <p:cNvSpPr txBox="1"/>
          <p:nvPr/>
        </p:nvSpPr>
        <p:spPr>
          <a:xfrm>
            <a:off x="658368" y="2697480"/>
            <a:ext cx="365760" cy="274320"/>
          </a:xfrm>
          <a:prstGeom prst="rect">
            <a:avLst/>
          </a:prstGeom>
          <a:noFill/>
          <a:ln/>
        </p:spPr>
        <p:txBody>
          <a:bodyPr wrap="square" lIns="0" tIns="0" rIns="0" bIns="0" rtlCol="0" anchor="ctr"/>
          <a:lstStyle/>
          <a:p>
            <a:pPr indent="0" marL="0">
              <a:buNone/>
            </a:pPr>
            <a:r>
              <a:rPr lang="en-US" sz="1000" b="1" dirty="0">
                <a:solidFill>
                  <a:srgbClr val="157F3D"/>
                </a:solidFill>
                <a:latin typeface="Calibri" pitchFamily="34" charset="0"/>
                <a:ea typeface="Calibri" pitchFamily="34" charset="-122"/>
                <a:cs typeface="Calibri" pitchFamily="34" charset="-120"/>
              </a:rPr>
              <a:t>01</a:t>
            </a:r>
            <a:endParaRPr lang="en-US" sz="1000" dirty="0"/>
          </a:p>
        </p:txBody>
      </p:sp>
      <p:sp>
        <p:nvSpPr>
          <p:cNvPr id="6" name="Text 4"/>
          <p:cNvSpPr txBox="1"/>
          <p:nvPr/>
        </p:nvSpPr>
        <p:spPr>
          <a:xfrm>
            <a:off x="1069848" y="2670048"/>
            <a:ext cx="5852160" cy="457200"/>
          </a:xfrm>
          <a:prstGeom prst="rect">
            <a:avLst/>
          </a:prstGeom>
          <a:noFill/>
          <a:ln/>
        </p:spPr>
        <p:txBody>
          <a:bodyPr wrap="square" lIns="0" tIns="0" rIns="0" bIns="0" rtlCol="0" anchor="t"/>
          <a:lstStyle/>
          <a:p>
            <a:pPr indent="0" marL="0">
              <a:buNone/>
            </a:pPr>
            <a:r>
              <a:rPr lang="en-US" sz="1100" dirty="0">
                <a:solidFill>
                  <a:srgbClr val="425446"/>
                </a:solidFill>
                <a:latin typeface="Calibri" pitchFamily="34" charset="0"/>
                <a:ea typeface="Calibri" pitchFamily="34" charset="-122"/>
                <a:cs typeface="Calibri" pitchFamily="34" charset="-120"/>
              </a:rPr>
              <a:t>Field profile — location, crop, season, soil, irrigation. Entered once; GPS fills district and state.</a:t>
            </a:r>
            <a:endParaRPr lang="en-US" sz="1100" dirty="0"/>
          </a:p>
        </p:txBody>
      </p:sp>
      <p:sp>
        <p:nvSpPr>
          <p:cNvPr id="7" name="Text 5"/>
          <p:cNvSpPr txBox="1"/>
          <p:nvPr/>
        </p:nvSpPr>
        <p:spPr>
          <a:xfrm>
            <a:off x="658368" y="3200400"/>
            <a:ext cx="365760" cy="274320"/>
          </a:xfrm>
          <a:prstGeom prst="rect">
            <a:avLst/>
          </a:prstGeom>
          <a:noFill/>
          <a:ln/>
        </p:spPr>
        <p:txBody>
          <a:bodyPr wrap="square" lIns="0" tIns="0" rIns="0" bIns="0" rtlCol="0" anchor="ctr"/>
          <a:lstStyle/>
          <a:p>
            <a:pPr indent="0" marL="0">
              <a:buNone/>
            </a:pPr>
            <a:r>
              <a:rPr lang="en-US" sz="1000" b="1" dirty="0">
                <a:solidFill>
                  <a:srgbClr val="157F3D"/>
                </a:solidFill>
                <a:latin typeface="Calibri" pitchFamily="34" charset="0"/>
                <a:ea typeface="Calibri" pitchFamily="34" charset="-122"/>
                <a:cs typeface="Calibri" pitchFamily="34" charset="-120"/>
              </a:rPr>
              <a:t>02</a:t>
            </a:r>
            <a:endParaRPr lang="en-US" sz="1000" dirty="0"/>
          </a:p>
        </p:txBody>
      </p:sp>
      <p:sp>
        <p:nvSpPr>
          <p:cNvPr id="8" name="Text 6"/>
          <p:cNvSpPr txBox="1"/>
          <p:nvPr/>
        </p:nvSpPr>
        <p:spPr>
          <a:xfrm>
            <a:off x="1069848" y="3172968"/>
            <a:ext cx="5852160" cy="457200"/>
          </a:xfrm>
          <a:prstGeom prst="rect">
            <a:avLst/>
          </a:prstGeom>
          <a:noFill/>
          <a:ln/>
        </p:spPr>
        <p:txBody>
          <a:bodyPr wrap="square" lIns="0" tIns="0" rIns="0" bIns="0" rtlCol="0" anchor="t"/>
          <a:lstStyle/>
          <a:p>
            <a:pPr indent="0" marL="0">
              <a:buNone/>
            </a:pPr>
            <a:r>
              <a:rPr lang="en-US" sz="1100" dirty="0">
                <a:solidFill>
                  <a:srgbClr val="425446"/>
                </a:solidFill>
                <a:latin typeface="Calibri" pitchFamily="34" charset="0"/>
                <a:ea typeface="Calibri" pitchFamily="34" charset="-122"/>
                <a:cs typeface="Calibri" pitchFamily="34" charset="-120"/>
              </a:rPr>
              <a:t>Live weather — current conditions and a 7-day forecast for that coordinate.</a:t>
            </a:r>
            <a:endParaRPr lang="en-US" sz="1100" dirty="0"/>
          </a:p>
        </p:txBody>
      </p:sp>
      <p:sp>
        <p:nvSpPr>
          <p:cNvPr id="9" name="Text 7"/>
          <p:cNvSpPr txBox="1"/>
          <p:nvPr/>
        </p:nvSpPr>
        <p:spPr>
          <a:xfrm>
            <a:off x="658368" y="3703320"/>
            <a:ext cx="365760" cy="274320"/>
          </a:xfrm>
          <a:prstGeom prst="rect">
            <a:avLst/>
          </a:prstGeom>
          <a:noFill/>
          <a:ln/>
        </p:spPr>
        <p:txBody>
          <a:bodyPr wrap="square" lIns="0" tIns="0" rIns="0" bIns="0" rtlCol="0" anchor="ctr"/>
          <a:lstStyle/>
          <a:p>
            <a:pPr indent="0" marL="0">
              <a:buNone/>
            </a:pPr>
            <a:r>
              <a:rPr lang="en-US" sz="1000" b="1" dirty="0">
                <a:solidFill>
                  <a:srgbClr val="157F3D"/>
                </a:solidFill>
                <a:latin typeface="Calibri" pitchFamily="34" charset="0"/>
                <a:ea typeface="Calibri" pitchFamily="34" charset="-122"/>
                <a:cs typeface="Calibri" pitchFamily="34" charset="-120"/>
              </a:rPr>
              <a:t>03</a:t>
            </a:r>
            <a:endParaRPr lang="en-US" sz="1000" dirty="0"/>
          </a:p>
        </p:txBody>
      </p:sp>
      <p:sp>
        <p:nvSpPr>
          <p:cNvPr id="10" name="Text 8"/>
          <p:cNvSpPr txBox="1"/>
          <p:nvPr/>
        </p:nvSpPr>
        <p:spPr>
          <a:xfrm>
            <a:off x="1069848" y="3675888"/>
            <a:ext cx="5852160" cy="457200"/>
          </a:xfrm>
          <a:prstGeom prst="rect">
            <a:avLst/>
          </a:prstGeom>
          <a:noFill/>
          <a:ln/>
        </p:spPr>
        <p:txBody>
          <a:bodyPr wrap="square" lIns="0" tIns="0" rIns="0" bIns="0" rtlCol="0" anchor="t"/>
          <a:lstStyle/>
          <a:p>
            <a:pPr indent="0" marL="0">
              <a:buNone/>
            </a:pPr>
            <a:r>
              <a:rPr lang="en-US" sz="1100" dirty="0">
                <a:solidFill>
                  <a:srgbClr val="425446"/>
                </a:solidFill>
                <a:latin typeface="Calibri" pitchFamily="34" charset="0"/>
                <a:ea typeface="Calibri" pitchFamily="34" charset="-122"/>
                <a:cs typeface="Calibri" pitchFamily="34" charset="-120"/>
              </a:rPr>
              <a:t>Satellite vegetation — Sentinel-2 NDVI reduced over the field via Google Earth Engine.</a:t>
            </a:r>
            <a:endParaRPr lang="en-US" sz="1100" dirty="0"/>
          </a:p>
        </p:txBody>
      </p:sp>
      <p:sp>
        <p:nvSpPr>
          <p:cNvPr id="11" name="Text 9"/>
          <p:cNvSpPr txBox="1"/>
          <p:nvPr/>
        </p:nvSpPr>
        <p:spPr>
          <a:xfrm>
            <a:off x="658368" y="4206240"/>
            <a:ext cx="365760" cy="274320"/>
          </a:xfrm>
          <a:prstGeom prst="rect">
            <a:avLst/>
          </a:prstGeom>
          <a:noFill/>
          <a:ln/>
        </p:spPr>
        <p:txBody>
          <a:bodyPr wrap="square" lIns="0" tIns="0" rIns="0" bIns="0" rtlCol="0" anchor="ctr"/>
          <a:lstStyle/>
          <a:p>
            <a:pPr indent="0" marL="0">
              <a:buNone/>
            </a:pPr>
            <a:r>
              <a:rPr lang="en-US" sz="1000" b="1" dirty="0">
                <a:solidFill>
                  <a:srgbClr val="157F3D"/>
                </a:solidFill>
                <a:latin typeface="Calibri" pitchFamily="34" charset="0"/>
                <a:ea typeface="Calibri" pitchFamily="34" charset="-122"/>
                <a:cs typeface="Calibri" pitchFamily="34" charset="-120"/>
              </a:rPr>
              <a:t>04</a:t>
            </a:r>
            <a:endParaRPr lang="en-US" sz="1000" dirty="0"/>
          </a:p>
        </p:txBody>
      </p:sp>
      <p:sp>
        <p:nvSpPr>
          <p:cNvPr id="12" name="Text 10"/>
          <p:cNvSpPr txBox="1"/>
          <p:nvPr/>
        </p:nvSpPr>
        <p:spPr>
          <a:xfrm>
            <a:off x="1069848" y="4178808"/>
            <a:ext cx="5852160" cy="457200"/>
          </a:xfrm>
          <a:prstGeom prst="rect">
            <a:avLst/>
          </a:prstGeom>
          <a:noFill/>
          <a:ln/>
        </p:spPr>
        <p:txBody>
          <a:bodyPr wrap="square" lIns="0" tIns="0" rIns="0" bIns="0" rtlCol="0" anchor="t"/>
          <a:lstStyle/>
          <a:p>
            <a:pPr indent="0" marL="0">
              <a:buNone/>
            </a:pPr>
            <a:r>
              <a:rPr lang="en-US" sz="1100" dirty="0">
                <a:solidFill>
                  <a:srgbClr val="425446"/>
                </a:solidFill>
                <a:latin typeface="Calibri" pitchFamily="34" charset="0"/>
                <a:ea typeface="Calibri" pitchFamily="34" charset="-122"/>
                <a:cs typeface="Calibri" pitchFamily="34" charset="-120"/>
              </a:rPr>
              <a:t>Leaf scan — MobileNetV2, escalating to Gemini multimodal below the confidence threshold.</a:t>
            </a:r>
            <a:endParaRPr lang="en-US" sz="1100" dirty="0"/>
          </a:p>
        </p:txBody>
      </p:sp>
      <p:sp>
        <p:nvSpPr>
          <p:cNvPr id="13" name="Text 11"/>
          <p:cNvSpPr txBox="1"/>
          <p:nvPr/>
        </p:nvSpPr>
        <p:spPr>
          <a:xfrm>
            <a:off x="658368" y="4709160"/>
            <a:ext cx="365760" cy="274320"/>
          </a:xfrm>
          <a:prstGeom prst="rect">
            <a:avLst/>
          </a:prstGeom>
          <a:noFill/>
          <a:ln/>
        </p:spPr>
        <p:txBody>
          <a:bodyPr wrap="square" lIns="0" tIns="0" rIns="0" bIns="0" rtlCol="0" anchor="ctr"/>
          <a:lstStyle/>
          <a:p>
            <a:pPr indent="0" marL="0">
              <a:buNone/>
            </a:pPr>
            <a:r>
              <a:rPr lang="en-US" sz="1000" b="1" dirty="0">
                <a:solidFill>
                  <a:srgbClr val="157F3D"/>
                </a:solidFill>
                <a:latin typeface="Calibri" pitchFamily="34" charset="0"/>
                <a:ea typeface="Calibri" pitchFamily="34" charset="-122"/>
                <a:cs typeface="Calibri" pitchFamily="34" charset="-120"/>
              </a:rPr>
              <a:t>05</a:t>
            </a:r>
            <a:endParaRPr lang="en-US" sz="1000" dirty="0"/>
          </a:p>
        </p:txBody>
      </p:sp>
      <p:sp>
        <p:nvSpPr>
          <p:cNvPr id="14" name="Text 12"/>
          <p:cNvSpPr txBox="1"/>
          <p:nvPr/>
        </p:nvSpPr>
        <p:spPr>
          <a:xfrm>
            <a:off x="1069848" y="4681728"/>
            <a:ext cx="5852160" cy="457200"/>
          </a:xfrm>
          <a:prstGeom prst="rect">
            <a:avLst/>
          </a:prstGeom>
          <a:noFill/>
          <a:ln/>
        </p:spPr>
        <p:txBody>
          <a:bodyPr wrap="square" lIns="0" tIns="0" rIns="0" bIns="0" rtlCol="0" anchor="t"/>
          <a:lstStyle/>
          <a:p>
            <a:pPr indent="0" marL="0">
              <a:buNone/>
            </a:pPr>
            <a:r>
              <a:rPr lang="en-US" sz="1100" dirty="0">
                <a:solidFill>
                  <a:srgbClr val="425446"/>
                </a:solidFill>
                <a:latin typeface="Calibri" pitchFamily="34" charset="0"/>
                <a:ea typeface="Calibri" pitchFamily="34" charset="-122"/>
                <a:cs typeface="Calibri" pitchFamily="34" charset="-120"/>
              </a:rPr>
              <a:t>Risk score — five weighted factors, and a written note for every factor with no evidence.</a:t>
            </a:r>
            <a:endParaRPr lang="en-US" sz="1100" dirty="0"/>
          </a:p>
        </p:txBody>
      </p:sp>
      <p:sp>
        <p:nvSpPr>
          <p:cNvPr id="15" name="Text 13"/>
          <p:cNvSpPr txBox="1"/>
          <p:nvPr/>
        </p:nvSpPr>
        <p:spPr>
          <a:xfrm>
            <a:off x="658368" y="5212080"/>
            <a:ext cx="365760" cy="274320"/>
          </a:xfrm>
          <a:prstGeom prst="rect">
            <a:avLst/>
          </a:prstGeom>
          <a:noFill/>
          <a:ln/>
        </p:spPr>
        <p:txBody>
          <a:bodyPr wrap="square" lIns="0" tIns="0" rIns="0" bIns="0" rtlCol="0" anchor="ctr"/>
          <a:lstStyle/>
          <a:p>
            <a:pPr indent="0" marL="0">
              <a:buNone/>
            </a:pPr>
            <a:r>
              <a:rPr lang="en-US" sz="1000" b="1" dirty="0">
                <a:solidFill>
                  <a:srgbClr val="157F3D"/>
                </a:solidFill>
                <a:latin typeface="Calibri" pitchFamily="34" charset="0"/>
                <a:ea typeface="Calibri" pitchFamily="34" charset="-122"/>
                <a:cs typeface="Calibri" pitchFamily="34" charset="-120"/>
              </a:rPr>
              <a:t>06</a:t>
            </a:r>
            <a:endParaRPr lang="en-US" sz="1000" dirty="0"/>
          </a:p>
        </p:txBody>
      </p:sp>
      <p:sp>
        <p:nvSpPr>
          <p:cNvPr id="16" name="Text 14"/>
          <p:cNvSpPr txBox="1"/>
          <p:nvPr/>
        </p:nvSpPr>
        <p:spPr>
          <a:xfrm>
            <a:off x="1069848" y="5184648"/>
            <a:ext cx="5852160" cy="457200"/>
          </a:xfrm>
          <a:prstGeom prst="rect">
            <a:avLst/>
          </a:prstGeom>
          <a:noFill/>
          <a:ln/>
        </p:spPr>
        <p:txBody>
          <a:bodyPr wrap="square" lIns="0" tIns="0" rIns="0" bIns="0" rtlCol="0" anchor="t"/>
          <a:lstStyle/>
          <a:p>
            <a:pPr indent="0" marL="0">
              <a:buNone/>
            </a:pPr>
            <a:r>
              <a:rPr lang="en-US" sz="1100" dirty="0">
                <a:solidFill>
                  <a:srgbClr val="425446"/>
                </a:solidFill>
                <a:latin typeface="Calibri" pitchFamily="34" charset="0"/>
                <a:ea typeface="Calibri" pitchFamily="34" charset="-122"/>
                <a:cs typeface="Calibri" pitchFamily="34" charset="-120"/>
              </a:rPr>
              <a:t>Advisory — Gemini narrates the computed numbers in English, Hindi, Gujarati or Telugu.</a:t>
            </a:r>
            <a:endParaRPr lang="en-US" sz="1100" dirty="0"/>
          </a:p>
        </p:txBody>
      </p:sp>
      <p:sp>
        <p:nvSpPr>
          <p:cNvPr id="17" name="Shape 15"/>
          <p:cNvSpPr/>
          <p:nvPr/>
        </p:nvSpPr>
        <p:spPr>
          <a:xfrm>
            <a:off x="7223760" y="2651760"/>
            <a:ext cx="4297680" cy="1783080"/>
          </a:xfrm>
          <a:prstGeom prst="roundRect">
            <a:avLst>
              <a:gd name="adj" fmla="val 3077"/>
            </a:avLst>
          </a:prstGeom>
          <a:solidFill>
            <a:srgbClr val="FFFFFF"/>
          </a:solidFill>
          <a:ln w="9525">
            <a:solidFill>
              <a:srgbClr val="CFE0C8"/>
            </a:solidFill>
            <a:prstDash val="solid"/>
          </a:ln>
        </p:spPr>
      </p:sp>
      <p:sp>
        <p:nvSpPr>
          <p:cNvPr id="18" name="Text 16"/>
          <p:cNvSpPr txBox="1"/>
          <p:nvPr/>
        </p:nvSpPr>
        <p:spPr>
          <a:xfrm>
            <a:off x="7406640" y="2816352"/>
            <a:ext cx="3931920" cy="201168"/>
          </a:xfrm>
          <a:prstGeom prst="rect">
            <a:avLst/>
          </a:prstGeom>
          <a:noFill/>
          <a:ln/>
        </p:spPr>
        <p:txBody>
          <a:bodyPr wrap="square" lIns="0" tIns="0" rIns="0" bIns="0" rtlCol="0" anchor="ctr"/>
          <a:lstStyle/>
          <a:p>
            <a:pPr indent="0" marL="0">
              <a:buNone/>
            </a:pPr>
            <a:r>
              <a:rPr lang="en-US" sz="850" b="1" spc="120" kern="0" dirty="0">
                <a:solidFill>
                  <a:srgbClr val="0D5528"/>
                </a:solidFill>
                <a:latin typeface="Calibri" pitchFamily="34" charset="0"/>
                <a:ea typeface="Calibri" pitchFamily="34" charset="-122"/>
                <a:cs typeface="Calibri" pitchFamily="34" charset="-120"/>
              </a:rPr>
              <a:t>RISK ENGINE</a:t>
            </a:r>
            <a:endParaRPr lang="en-US" sz="850" dirty="0"/>
          </a:p>
        </p:txBody>
      </p:sp>
      <p:sp>
        <p:nvSpPr>
          <p:cNvPr id="19" name="Text 17"/>
          <p:cNvSpPr txBox="1"/>
          <p:nvPr/>
        </p:nvSpPr>
        <p:spPr>
          <a:xfrm>
            <a:off x="7406640" y="3072384"/>
            <a:ext cx="3931920"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Water 0.30 · Heat 0.20 · Disease 0.20 · Rainfall 0.15 · Vegetation 0.15</a:t>
            </a:r>
            <a:endParaRPr lang="en-US" sz="1250" dirty="0"/>
          </a:p>
        </p:txBody>
      </p:sp>
      <p:sp>
        <p:nvSpPr>
          <p:cNvPr id="20" name="Text 18"/>
          <p:cNvSpPr txBox="1"/>
          <p:nvPr/>
        </p:nvSpPr>
        <p:spPr>
          <a:xfrm>
            <a:off x="7406640" y="3474720"/>
            <a:ext cx="3931920" cy="832104"/>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When the weather service is unreachable, heat and rainfall are dropped from the weighted score and the remaining weights renormalised — never silently read as zero.</a:t>
            </a:r>
            <a:endParaRPr lang="en-US" sz="1000" dirty="0"/>
          </a:p>
        </p:txBody>
      </p:sp>
      <p:sp>
        <p:nvSpPr>
          <p:cNvPr id="21" name="Shape 19"/>
          <p:cNvSpPr/>
          <p:nvPr/>
        </p:nvSpPr>
        <p:spPr>
          <a:xfrm>
            <a:off x="7223760" y="4572000"/>
            <a:ext cx="4297680" cy="1234440"/>
          </a:xfrm>
          <a:prstGeom prst="roundRect">
            <a:avLst>
              <a:gd name="adj" fmla="val 4444"/>
            </a:avLst>
          </a:prstGeom>
          <a:solidFill>
            <a:srgbClr val="FFFFFF"/>
          </a:solidFill>
          <a:ln w="9525">
            <a:solidFill>
              <a:srgbClr val="CFE0C8"/>
            </a:solidFill>
            <a:prstDash val="solid"/>
          </a:ln>
        </p:spPr>
      </p:sp>
      <p:sp>
        <p:nvSpPr>
          <p:cNvPr id="22" name="Text 20"/>
          <p:cNvSpPr txBox="1"/>
          <p:nvPr/>
        </p:nvSpPr>
        <p:spPr>
          <a:xfrm>
            <a:off x="7406640" y="4736592"/>
            <a:ext cx="3931920" cy="201168"/>
          </a:xfrm>
          <a:prstGeom prst="rect">
            <a:avLst/>
          </a:prstGeom>
          <a:noFill/>
          <a:ln/>
        </p:spPr>
        <p:txBody>
          <a:bodyPr wrap="square" lIns="0" tIns="0" rIns="0" bIns="0" rtlCol="0" anchor="ctr"/>
          <a:lstStyle/>
          <a:p>
            <a:pPr indent="0" marL="0">
              <a:buNone/>
            </a:pPr>
            <a:r>
              <a:rPr lang="en-US" sz="850" b="1" spc="120" kern="0" dirty="0">
                <a:solidFill>
                  <a:srgbClr val="D98A00"/>
                </a:solidFill>
                <a:latin typeface="Calibri" pitchFamily="34" charset="0"/>
                <a:ea typeface="Calibri" pitchFamily="34" charset="-122"/>
                <a:cs typeface="Calibri" pitchFamily="34" charset="-120"/>
              </a:rPr>
              <a:t>ASSUMPTIONS ARE SURFACED</a:t>
            </a:r>
            <a:endParaRPr lang="en-US" sz="850" dirty="0"/>
          </a:p>
        </p:txBody>
      </p:sp>
      <p:sp>
        <p:nvSpPr>
          <p:cNvPr id="23" name="Text 21"/>
          <p:cNvSpPr txBox="1"/>
          <p:nvPr/>
        </p:nvSpPr>
        <p:spPr>
          <a:xfrm>
            <a:off x="7406640" y="4992624"/>
            <a:ext cx="3931920"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“No leaf analysis on record; disease risk uses the neutral baseline (30/100).”</a:t>
            </a:r>
            <a:endParaRPr lang="en-US" sz="1250" dirty="0"/>
          </a:p>
        </p:txBody>
      </p:sp>
      <p:sp>
        <p:nvSpPr>
          <p:cNvPr id="24" name="Text 22"/>
          <p:cNvSpPr txBox="1"/>
          <p:nvPr/>
        </p:nvSpPr>
        <p:spPr>
          <a:xfrm>
            <a:off x="7406640" y="5394960"/>
            <a:ext cx="3931920" cy="283464"/>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Shown to the farmer, in the app, beside the score.</a:t>
            </a:r>
            <a:endParaRPr lang="en-US" sz="1000" dirty="0"/>
          </a:p>
        </p:txBody>
      </p:sp>
      <p:sp>
        <p:nvSpPr>
          <p:cNvPr id="25" name="Text 23"/>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EF"/>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WHAT MAKES IT DIFFERENT</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It tells the farmer what it does not know.</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Agricultural advice moves money and food. A confident wrong answer is worse than an admitted gap — so provenance is a first-class field in the API, not a footnote in the UI.</a:t>
            </a:r>
            <a:endParaRPr lang="en-US" sz="1400" dirty="0"/>
          </a:p>
        </p:txBody>
      </p:sp>
      <p:sp>
        <p:nvSpPr>
          <p:cNvPr id="5" name="Text 3"/>
          <p:cNvSpPr txBox="1"/>
          <p:nvPr/>
        </p:nvSpPr>
        <p:spPr>
          <a:xfrm>
            <a:off x="658368" y="2743200"/>
            <a:ext cx="5872478" cy="2743200"/>
          </a:xfrm>
          <a:prstGeom prst="rect">
            <a:avLst/>
          </a:prstGeom>
          <a:noFill/>
          <a:ln/>
        </p:spPr>
        <p:txBody>
          <a:bodyPr wrap="square" lIns="0" tIns="0" rIns="0" bIns="0" rtlCol="0" anchor="t"/>
          <a:lstStyle/>
          <a:p>
            <a:pPr indent="0" marL="0">
              <a:lnSpc>
                <a:spcPct val="125000"/>
              </a:lnSpc>
              <a:spcAft>
                <a:spcPts val="600"/>
              </a:spcAft>
              <a:buNone/>
            </a:pPr>
            <a:r>
              <a:rPr lang="en-US" sz="1100" dirty="0">
                <a:solidFill>
                  <a:srgbClr val="425446"/>
                </a:solidFill>
                <a:latin typeface="Calibri" pitchFamily="34" charset="0"/>
                <a:ea typeface="Calibri" pitchFamily="34" charset="-122"/>
                <a:cs typeface="Calibri" pitchFamily="34" charset="-120"/>
              </a:rPr>
              <a:t>—  Every measurement carries is_live, degraded and is_demo — the types make them non-optional, so a screen cannot render a number without the means to label it.</a:t>
            </a:r>
            <a:endParaRPr lang="en-US" sz="1100" dirty="0"/>
          </a:p>
          <a:p>
            <a:pPr indent="0" marL="0">
              <a:lnSpc>
                <a:spcPct val="125000"/>
              </a:lnSpc>
              <a:spcAft>
                <a:spcPts val="600"/>
              </a:spcAft>
              <a:buNone/>
            </a:pPr>
            <a:r>
              <a:rPr lang="en-US" sz="1100" dirty="0">
                <a:solidFill>
                  <a:srgbClr val="425446"/>
                </a:solidFill>
                <a:latin typeface="Calibri" pitchFamily="34" charset="0"/>
                <a:ea typeface="Calibri" pitchFamily="34" charset="-122"/>
                <a:cs typeface="Calibri" pitchFamily="34" charset="-120"/>
              </a:rPr>
              <a:t>—  Demo satellite data says “Demo dataset — not a live satellite observation.”</a:t>
            </a:r>
            <a:endParaRPr lang="en-US" sz="1100" dirty="0"/>
          </a:p>
          <a:p>
            <a:pPr indent="0" marL="0">
              <a:lnSpc>
                <a:spcPct val="125000"/>
              </a:lnSpc>
              <a:spcAft>
                <a:spcPts val="600"/>
              </a:spcAft>
              <a:buNone/>
            </a:pPr>
            <a:r>
              <a:rPr lang="en-US" sz="1100" dirty="0">
                <a:solidFill>
                  <a:srgbClr val="425446"/>
                </a:solidFill>
                <a:latin typeface="Calibri" pitchFamily="34" charset="0"/>
                <a:ea typeface="Calibri" pitchFamily="34" charset="-122"/>
                <a:cs typeface="Calibri" pitchFamily="34" charset="-120"/>
              </a:rPr>
              <a:t>—  With no Gemini key, the advisory is labelled rule-based rather than passed off as model output.</a:t>
            </a:r>
            <a:endParaRPr lang="en-US" sz="1100" dirty="0"/>
          </a:p>
          <a:p>
            <a:pPr indent="0" marL="0">
              <a:lnSpc>
                <a:spcPct val="125000"/>
              </a:lnSpc>
              <a:spcAft>
                <a:spcPts val="600"/>
              </a:spcAft>
              <a:buNone/>
            </a:pPr>
            <a:r>
              <a:rPr lang="en-US" sz="1100" dirty="0">
                <a:solidFill>
                  <a:srgbClr val="425446"/>
                </a:solidFill>
                <a:latin typeface="Calibri" pitchFamily="34" charset="0"/>
                <a:ea typeface="Calibri" pitchFamily="34" charset="-122"/>
                <a:cs typeface="Calibri" pitchFamily="34" charset="-120"/>
              </a:rPr>
              <a:t>—  Mandi prices return a 503 when unconfigured. Never an estimate.</a:t>
            </a:r>
            <a:endParaRPr lang="en-US" sz="1100" dirty="0"/>
          </a:p>
          <a:p>
            <a:pPr indent="0" marL="0">
              <a:lnSpc>
                <a:spcPct val="125000"/>
              </a:lnSpc>
              <a:spcAft>
                <a:spcPts val="600"/>
              </a:spcAft>
              <a:buNone/>
            </a:pPr>
            <a:r>
              <a:rPr lang="en-US" sz="1100" dirty="0">
                <a:solidFill>
                  <a:srgbClr val="425446"/>
                </a:solidFill>
                <a:latin typeface="Calibri" pitchFamily="34" charset="0"/>
                <a:ea typeface="Calibri" pitchFamily="34" charset="-122"/>
                <a:cs typeface="Calibri" pitchFamily="34" charset="-120"/>
              </a:rPr>
              <a:t>—  The leaf scanner names the 14 crops it was trained on, and warns before you photograph a crop outside them.</a:t>
            </a:r>
            <a:endParaRPr lang="en-US" sz="1100" dirty="0"/>
          </a:p>
        </p:txBody>
      </p:sp>
      <p:sp>
        <p:nvSpPr>
          <p:cNvPr id="6" name="Shape 4"/>
          <p:cNvSpPr/>
          <p:nvPr/>
        </p:nvSpPr>
        <p:spPr>
          <a:xfrm>
            <a:off x="7342632" y="2697480"/>
            <a:ext cx="4023360" cy="2487168"/>
          </a:xfrm>
          <a:prstGeom prst="rect">
            <a:avLst/>
          </a:prstGeom>
          <a:solidFill>
            <a:srgbClr val="E6EFE1"/>
          </a:solidFill>
          <a:ln/>
        </p:spPr>
      </p:sp>
      <p:sp>
        <p:nvSpPr>
          <p:cNvPr id="7" name="Shape 5"/>
          <p:cNvSpPr/>
          <p:nvPr/>
        </p:nvSpPr>
        <p:spPr>
          <a:xfrm>
            <a:off x="7452360" y="3494837"/>
            <a:ext cx="1051560" cy="1580083"/>
          </a:xfrm>
          <a:prstGeom prst="rect">
            <a:avLst/>
          </a:prstGeom>
          <a:solidFill>
            <a:srgbClr val="157F3D"/>
          </a:solidFill>
          <a:ln/>
        </p:spPr>
      </p:sp>
      <p:sp>
        <p:nvSpPr>
          <p:cNvPr id="8" name="Text 6"/>
          <p:cNvSpPr txBox="1"/>
          <p:nvPr/>
        </p:nvSpPr>
        <p:spPr>
          <a:xfrm>
            <a:off x="7406640" y="5120640"/>
            <a:ext cx="1325880" cy="228600"/>
          </a:xfrm>
          <a:prstGeom prst="rect">
            <a:avLst/>
          </a:prstGeom>
          <a:noFill/>
          <a:ln/>
        </p:spPr>
        <p:txBody>
          <a:bodyPr wrap="square" lIns="0" tIns="0" rIns="0" bIns="0" rtlCol="0" anchor="ctr"/>
          <a:lstStyle/>
          <a:p>
            <a:pPr indent="0" marL="0">
              <a:buNone/>
            </a:pPr>
            <a:r>
              <a:rPr lang="en-US" sz="800" dirty="0">
                <a:solidFill>
                  <a:srgbClr val="425446"/>
                </a:solidFill>
                <a:latin typeface="Calibri" pitchFamily="34" charset="0"/>
                <a:ea typeface="Calibri" pitchFamily="34" charset="-122"/>
                <a:cs typeface="Calibri" pitchFamily="34" charset="-120"/>
              </a:rPr>
              <a:t>WATER 72</a:t>
            </a:r>
            <a:endParaRPr lang="en-US" sz="800" dirty="0"/>
          </a:p>
        </p:txBody>
      </p:sp>
      <p:sp>
        <p:nvSpPr>
          <p:cNvPr id="9" name="Shape 7"/>
          <p:cNvSpPr/>
          <p:nvPr/>
        </p:nvSpPr>
        <p:spPr>
          <a:xfrm>
            <a:off x="8558784" y="4175150"/>
            <a:ext cx="713232" cy="899770"/>
          </a:xfrm>
          <a:prstGeom prst="rect">
            <a:avLst/>
          </a:prstGeom>
          <a:solidFill>
            <a:srgbClr val="157F3D"/>
          </a:solidFill>
          <a:ln/>
        </p:spPr>
      </p:sp>
      <p:sp>
        <p:nvSpPr>
          <p:cNvPr id="10" name="Text 8"/>
          <p:cNvSpPr txBox="1"/>
          <p:nvPr/>
        </p:nvSpPr>
        <p:spPr>
          <a:xfrm>
            <a:off x="8513064" y="5120640"/>
            <a:ext cx="987552" cy="228600"/>
          </a:xfrm>
          <a:prstGeom prst="rect">
            <a:avLst/>
          </a:prstGeom>
          <a:noFill/>
          <a:ln/>
        </p:spPr>
        <p:txBody>
          <a:bodyPr wrap="square" lIns="0" tIns="0" rIns="0" bIns="0" rtlCol="0" anchor="ctr"/>
          <a:lstStyle/>
          <a:p>
            <a:pPr indent="0" marL="0">
              <a:buNone/>
            </a:pPr>
            <a:r>
              <a:rPr lang="en-US" sz="800" dirty="0">
                <a:solidFill>
                  <a:srgbClr val="425446"/>
                </a:solidFill>
                <a:latin typeface="Calibri" pitchFamily="34" charset="0"/>
                <a:ea typeface="Calibri" pitchFamily="34" charset="-122"/>
                <a:cs typeface="Calibri" pitchFamily="34" charset="-120"/>
              </a:rPr>
              <a:t>HEAT 41</a:t>
            </a:r>
            <a:endParaRPr lang="en-US" sz="800" dirty="0"/>
          </a:p>
        </p:txBody>
      </p:sp>
      <p:sp>
        <p:nvSpPr>
          <p:cNvPr id="11" name="Shape 9"/>
          <p:cNvSpPr/>
          <p:nvPr/>
        </p:nvSpPr>
        <p:spPr>
          <a:xfrm>
            <a:off x="9326880" y="3867912"/>
            <a:ext cx="713232" cy="1207008"/>
          </a:xfrm>
          <a:prstGeom prst="rect">
            <a:avLst/>
          </a:prstGeom>
          <a:solidFill>
            <a:srgbClr val="D98A00"/>
          </a:solidFill>
          <a:ln/>
        </p:spPr>
      </p:sp>
      <p:sp>
        <p:nvSpPr>
          <p:cNvPr id="12" name="Text 10"/>
          <p:cNvSpPr txBox="1"/>
          <p:nvPr/>
        </p:nvSpPr>
        <p:spPr>
          <a:xfrm>
            <a:off x="9281160" y="5120640"/>
            <a:ext cx="987552" cy="228600"/>
          </a:xfrm>
          <a:prstGeom prst="rect">
            <a:avLst/>
          </a:prstGeom>
          <a:noFill/>
          <a:ln/>
        </p:spPr>
        <p:txBody>
          <a:bodyPr wrap="square" lIns="0" tIns="0" rIns="0" bIns="0" rtlCol="0" anchor="ctr"/>
          <a:lstStyle/>
          <a:p>
            <a:pPr indent="0" marL="0">
              <a:buNone/>
            </a:pPr>
            <a:r>
              <a:rPr lang="en-US" sz="800" dirty="0">
                <a:solidFill>
                  <a:srgbClr val="425446"/>
                </a:solidFill>
                <a:latin typeface="Calibri" pitchFamily="34" charset="0"/>
                <a:ea typeface="Calibri" pitchFamily="34" charset="-122"/>
                <a:cs typeface="Calibri" pitchFamily="34" charset="-120"/>
              </a:rPr>
              <a:t>DISEASE 55</a:t>
            </a:r>
            <a:endParaRPr lang="en-US" sz="800" dirty="0"/>
          </a:p>
        </p:txBody>
      </p:sp>
      <p:sp>
        <p:nvSpPr>
          <p:cNvPr id="13" name="Shape 11"/>
          <p:cNvSpPr/>
          <p:nvPr/>
        </p:nvSpPr>
        <p:spPr>
          <a:xfrm>
            <a:off x="10094976" y="4504334"/>
            <a:ext cx="548640" cy="570586"/>
          </a:xfrm>
          <a:prstGeom prst="rect">
            <a:avLst/>
          </a:prstGeom>
          <a:solidFill>
            <a:srgbClr val="157F3D"/>
          </a:solidFill>
          <a:ln/>
        </p:spPr>
      </p:sp>
      <p:sp>
        <p:nvSpPr>
          <p:cNvPr id="14" name="Text 12"/>
          <p:cNvSpPr txBox="1"/>
          <p:nvPr/>
        </p:nvSpPr>
        <p:spPr>
          <a:xfrm>
            <a:off x="10049256" y="5120640"/>
            <a:ext cx="822960" cy="228600"/>
          </a:xfrm>
          <a:prstGeom prst="rect">
            <a:avLst/>
          </a:prstGeom>
          <a:noFill/>
          <a:ln/>
        </p:spPr>
        <p:txBody>
          <a:bodyPr wrap="square" lIns="0" tIns="0" rIns="0" bIns="0" rtlCol="0" anchor="ctr"/>
          <a:lstStyle/>
          <a:p>
            <a:pPr indent="0" marL="0">
              <a:buNone/>
            </a:pPr>
            <a:r>
              <a:rPr lang="en-US" sz="800" dirty="0">
                <a:solidFill>
                  <a:srgbClr val="425446"/>
                </a:solidFill>
                <a:latin typeface="Calibri" pitchFamily="34" charset="0"/>
                <a:ea typeface="Calibri" pitchFamily="34" charset="-122"/>
                <a:cs typeface="Calibri" pitchFamily="34" charset="-120"/>
              </a:rPr>
              <a:t>RAIN 26</a:t>
            </a:r>
            <a:endParaRPr lang="en-US" sz="800" dirty="0"/>
          </a:p>
        </p:txBody>
      </p:sp>
      <p:sp>
        <p:nvSpPr>
          <p:cNvPr id="15" name="Shape 13"/>
          <p:cNvSpPr/>
          <p:nvPr/>
        </p:nvSpPr>
        <p:spPr>
          <a:xfrm>
            <a:off x="10698480" y="3758184"/>
            <a:ext cx="548640" cy="1316736"/>
          </a:xfrm>
          <a:prstGeom prst="rect">
            <a:avLst/>
          </a:prstGeom>
          <a:solidFill>
            <a:srgbClr val="D98A00"/>
          </a:solidFill>
          <a:ln/>
        </p:spPr>
      </p:sp>
      <p:sp>
        <p:nvSpPr>
          <p:cNvPr id="16" name="Text 14"/>
          <p:cNvSpPr txBox="1"/>
          <p:nvPr/>
        </p:nvSpPr>
        <p:spPr>
          <a:xfrm>
            <a:off x="10652760" y="5120640"/>
            <a:ext cx="822960" cy="228600"/>
          </a:xfrm>
          <a:prstGeom prst="rect">
            <a:avLst/>
          </a:prstGeom>
          <a:noFill/>
          <a:ln/>
        </p:spPr>
        <p:txBody>
          <a:bodyPr wrap="square" lIns="0" tIns="0" rIns="0" bIns="0" rtlCol="0" anchor="ctr"/>
          <a:lstStyle/>
          <a:p>
            <a:pPr indent="0" marL="0">
              <a:buNone/>
            </a:pPr>
            <a:r>
              <a:rPr lang="en-US" sz="800" dirty="0">
                <a:solidFill>
                  <a:srgbClr val="425446"/>
                </a:solidFill>
                <a:latin typeface="Calibri" pitchFamily="34" charset="0"/>
                <a:ea typeface="Calibri" pitchFamily="34" charset="-122"/>
                <a:cs typeface="Calibri" pitchFamily="34" charset="-120"/>
              </a:rPr>
              <a:t>VEG 60</a:t>
            </a:r>
            <a:endParaRPr lang="en-US" sz="800" dirty="0"/>
          </a:p>
        </p:txBody>
      </p:sp>
      <p:sp>
        <p:nvSpPr>
          <p:cNvPr id="17" name="Text 15"/>
          <p:cNvSpPr txBox="1"/>
          <p:nvPr/>
        </p:nvSpPr>
        <p:spPr>
          <a:xfrm>
            <a:off x="7342632" y="5440680"/>
            <a:ext cx="4023360" cy="457200"/>
          </a:xfrm>
          <a:prstGeom prst="rect">
            <a:avLst/>
          </a:prstGeom>
          <a:noFill/>
          <a:ln/>
        </p:spPr>
        <p:txBody>
          <a:bodyPr wrap="square" lIns="0" tIns="0" rIns="0" bIns="0" rtlCol="0" anchor="t"/>
          <a:lstStyle/>
          <a:p>
            <a:pPr indent="0" marL="0">
              <a:buNone/>
            </a:pPr>
            <a:r>
              <a:rPr lang="en-US" sz="900" dirty="0">
                <a:solidFill>
                  <a:srgbClr val="64786A"/>
                </a:solidFill>
                <a:latin typeface="Calibri" pitchFamily="34" charset="0"/>
                <a:ea typeface="Calibri" pitchFamily="34" charset="-122"/>
                <a:cs typeface="Calibri" pitchFamily="34" charset="-120"/>
              </a:rPr>
              <a:t>Width = weight carried · Height = sub-score. A factor with no evidence is absent, not drawn at zero.</a:t>
            </a:r>
            <a:endParaRPr lang="en-US" sz="900" dirty="0"/>
          </a:p>
        </p:txBody>
      </p:sp>
      <p:sp>
        <p:nvSpPr>
          <p:cNvPr id="18" name="Text 16"/>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6EFE1"/>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MARKET · POSITIONING</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Everyone owns one layer. Nobody owns the decision.</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Horizontal: who the product serves. Vertical: whether it answers a single question or produces a field-level decision.</a:t>
            </a:r>
            <a:endParaRPr lang="en-US" sz="1400" dirty="0"/>
          </a:p>
        </p:txBody>
      </p:sp>
      <p:sp>
        <p:nvSpPr>
          <p:cNvPr id="5" name="Shape 3"/>
          <p:cNvSpPr/>
          <p:nvPr/>
        </p:nvSpPr>
        <p:spPr>
          <a:xfrm>
            <a:off x="1463040" y="2697480"/>
            <a:ext cx="8595360" cy="3017520"/>
          </a:xfrm>
          <a:prstGeom prst="rect">
            <a:avLst/>
          </a:prstGeom>
          <a:solidFill>
            <a:srgbClr val="FFFFFF"/>
          </a:solidFill>
          <a:ln w="9525">
            <a:solidFill>
              <a:srgbClr val="CFE0C8"/>
            </a:solidFill>
            <a:prstDash val="solid"/>
          </a:ln>
        </p:spPr>
      </p:sp>
      <p:sp>
        <p:nvSpPr>
          <p:cNvPr id="6" name="Shape 4"/>
          <p:cNvSpPr/>
          <p:nvPr/>
        </p:nvSpPr>
        <p:spPr>
          <a:xfrm>
            <a:off x="5760720" y="2697480"/>
            <a:ext cx="0" cy="3017520"/>
          </a:xfrm>
          <a:prstGeom prst="line">
            <a:avLst/>
          </a:prstGeom>
          <a:noFill/>
          <a:ln w="9525">
            <a:solidFill>
              <a:srgbClr val="CFE0C8"/>
            </a:solidFill>
            <a:prstDash val="dash"/>
          </a:ln>
        </p:spPr>
      </p:sp>
      <p:sp>
        <p:nvSpPr>
          <p:cNvPr id="7" name="Shape 5"/>
          <p:cNvSpPr/>
          <p:nvPr/>
        </p:nvSpPr>
        <p:spPr>
          <a:xfrm>
            <a:off x="1463040" y="4206240"/>
            <a:ext cx="8595360" cy="0"/>
          </a:xfrm>
          <a:prstGeom prst="line">
            <a:avLst/>
          </a:prstGeom>
          <a:noFill/>
          <a:ln w="9525">
            <a:solidFill>
              <a:srgbClr val="CFE0C8"/>
            </a:solidFill>
            <a:prstDash val="dash"/>
          </a:ln>
        </p:spPr>
      </p:sp>
      <p:sp>
        <p:nvSpPr>
          <p:cNvPr id="8" name="Text 6"/>
          <p:cNvSpPr txBox="1"/>
          <p:nvPr/>
        </p:nvSpPr>
        <p:spPr>
          <a:xfrm>
            <a:off x="1463040" y="5788152"/>
            <a:ext cx="2011680" cy="219456"/>
          </a:xfrm>
          <a:prstGeom prst="rect">
            <a:avLst/>
          </a:prstGeom>
          <a:noFill/>
          <a:ln/>
        </p:spPr>
        <p:txBody>
          <a:bodyPr wrap="square" lIns="0" tIns="0" rIns="0" bIns="0" rtlCol="0" anchor="ctr"/>
          <a:lstStyle/>
          <a:p>
            <a:pPr indent="0" marL="0">
              <a:buNone/>
            </a:pPr>
            <a:r>
              <a:rPr lang="en-US" sz="900" dirty="0">
                <a:solidFill>
                  <a:srgbClr val="64786A"/>
                </a:solidFill>
                <a:latin typeface="Calibri" pitchFamily="34" charset="0"/>
                <a:ea typeface="Calibri" pitchFamily="34" charset="-122"/>
                <a:cs typeface="Calibri" pitchFamily="34" charset="-120"/>
              </a:rPr>
              <a:t>FARMER-FACING</a:t>
            </a:r>
            <a:endParaRPr lang="en-US" sz="900" dirty="0"/>
          </a:p>
        </p:txBody>
      </p:sp>
      <p:sp>
        <p:nvSpPr>
          <p:cNvPr id="9" name="Text 7"/>
          <p:cNvSpPr txBox="1"/>
          <p:nvPr/>
        </p:nvSpPr>
        <p:spPr>
          <a:xfrm>
            <a:off x="7863840" y="5788152"/>
            <a:ext cx="2194560" cy="219456"/>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ENTERPRISE / GOVERNMENT</a:t>
            </a:r>
            <a:endParaRPr lang="en-US" sz="900" dirty="0"/>
          </a:p>
        </p:txBody>
      </p:sp>
      <p:sp>
        <p:nvSpPr>
          <p:cNvPr id="10" name="Text 8"/>
          <p:cNvSpPr txBox="1"/>
          <p:nvPr/>
        </p:nvSpPr>
        <p:spPr>
          <a:xfrm>
            <a:off x="91440" y="2697480"/>
            <a:ext cx="1280160" cy="219456"/>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INTEGRATED</a:t>
            </a:r>
            <a:endParaRPr lang="en-US" sz="900" dirty="0"/>
          </a:p>
        </p:txBody>
      </p:sp>
      <p:sp>
        <p:nvSpPr>
          <p:cNvPr id="11" name="Text 9"/>
          <p:cNvSpPr txBox="1"/>
          <p:nvPr/>
        </p:nvSpPr>
        <p:spPr>
          <a:xfrm>
            <a:off x="91440" y="5495544"/>
            <a:ext cx="1280160" cy="219456"/>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SINGLE-PURPOSE</a:t>
            </a:r>
            <a:endParaRPr lang="en-US" sz="900" dirty="0"/>
          </a:p>
        </p:txBody>
      </p:sp>
      <p:sp>
        <p:nvSpPr>
          <p:cNvPr id="12" name="Shape 10"/>
          <p:cNvSpPr/>
          <p:nvPr/>
        </p:nvSpPr>
        <p:spPr>
          <a:xfrm>
            <a:off x="2602382" y="5017313"/>
            <a:ext cx="128016" cy="128016"/>
          </a:xfrm>
          <a:prstGeom prst="ellipse">
            <a:avLst/>
          </a:prstGeom>
          <a:solidFill>
            <a:srgbClr val="D98A00"/>
          </a:solidFill>
          <a:ln/>
        </p:spPr>
      </p:sp>
      <p:sp>
        <p:nvSpPr>
          <p:cNvPr id="13" name="Text 11"/>
          <p:cNvSpPr txBox="1"/>
          <p:nvPr/>
        </p:nvSpPr>
        <p:spPr>
          <a:xfrm>
            <a:off x="2776118" y="4962449"/>
            <a:ext cx="2103120" cy="201168"/>
          </a:xfrm>
          <a:prstGeom prst="rect">
            <a:avLst/>
          </a:prstGeom>
          <a:noFill/>
          <a:ln/>
        </p:spPr>
        <p:txBody>
          <a:bodyPr wrap="square" lIns="0" tIns="0" rIns="0" bIns="0" rtlCol="0" anchor="ctr"/>
          <a:lstStyle/>
          <a:p>
            <a:pPr indent="0" marL="0">
              <a:buNone/>
            </a:pPr>
            <a:r>
              <a:rPr lang="en-US" sz="1050" b="1" dirty="0">
                <a:solidFill>
                  <a:srgbClr val="15211A"/>
                </a:solidFill>
                <a:latin typeface="Calibri" pitchFamily="34" charset="0"/>
                <a:ea typeface="Calibri" pitchFamily="34" charset="-122"/>
                <a:cs typeface="Calibri" pitchFamily="34" charset="-120"/>
              </a:rPr>
              <a:t>Plantix</a:t>
            </a:r>
            <a:endParaRPr lang="en-US" sz="1050" dirty="0"/>
          </a:p>
        </p:txBody>
      </p:sp>
      <p:sp>
        <p:nvSpPr>
          <p:cNvPr id="14" name="Text 12"/>
          <p:cNvSpPr txBox="1"/>
          <p:nvPr/>
        </p:nvSpPr>
        <p:spPr>
          <a:xfrm>
            <a:off x="2776118" y="5136185"/>
            <a:ext cx="2194560" cy="201168"/>
          </a:xfrm>
          <a:prstGeom prst="rect">
            <a:avLst/>
          </a:prstGeom>
          <a:noFill/>
          <a:ln/>
        </p:spPr>
        <p:txBody>
          <a:bodyPr wrap="square" lIns="0" tIns="0" rIns="0" bIns="0" rtlCol="0" anchor="ctr"/>
          <a:lstStyle/>
          <a:p>
            <a:pPr indent="0" marL="0">
              <a:buNone/>
            </a:pPr>
            <a:r>
              <a:rPr lang="en-US" sz="850" dirty="0">
                <a:solidFill>
                  <a:srgbClr val="64786A"/>
                </a:solidFill>
                <a:latin typeface="Calibri" pitchFamily="34" charset="0"/>
                <a:ea typeface="Calibri" pitchFamily="34" charset="-122"/>
                <a:cs typeface="Calibri" pitchFamily="34" charset="-120"/>
              </a:rPr>
              <a:t>Photo diagnosis · free</a:t>
            </a:r>
            <a:endParaRPr lang="en-US" sz="850" dirty="0"/>
          </a:p>
        </p:txBody>
      </p:sp>
      <p:sp>
        <p:nvSpPr>
          <p:cNvPr id="15" name="Shape 13"/>
          <p:cNvSpPr/>
          <p:nvPr/>
        </p:nvSpPr>
        <p:spPr>
          <a:xfrm>
            <a:off x="3977640" y="4655210"/>
            <a:ext cx="128016" cy="128016"/>
          </a:xfrm>
          <a:prstGeom prst="ellipse">
            <a:avLst/>
          </a:prstGeom>
          <a:solidFill>
            <a:srgbClr val="D98A00"/>
          </a:solidFill>
          <a:ln/>
        </p:spPr>
      </p:sp>
      <p:sp>
        <p:nvSpPr>
          <p:cNvPr id="16" name="Text 14"/>
          <p:cNvSpPr txBox="1"/>
          <p:nvPr/>
        </p:nvSpPr>
        <p:spPr>
          <a:xfrm>
            <a:off x="4151376" y="4600346"/>
            <a:ext cx="2103120" cy="201168"/>
          </a:xfrm>
          <a:prstGeom prst="rect">
            <a:avLst/>
          </a:prstGeom>
          <a:noFill/>
          <a:ln/>
        </p:spPr>
        <p:txBody>
          <a:bodyPr wrap="square" lIns="0" tIns="0" rIns="0" bIns="0" rtlCol="0" anchor="ctr"/>
          <a:lstStyle/>
          <a:p>
            <a:pPr indent="0" marL="0">
              <a:buNone/>
            </a:pPr>
            <a:r>
              <a:rPr lang="en-US" sz="1050" b="1" dirty="0">
                <a:solidFill>
                  <a:srgbClr val="15211A"/>
                </a:solidFill>
                <a:latin typeface="Calibri" pitchFamily="34" charset="0"/>
                <a:ea typeface="Calibri" pitchFamily="34" charset="-122"/>
                <a:cs typeface="Calibri" pitchFamily="34" charset="-120"/>
              </a:rPr>
              <a:t>AgroStar</a:t>
            </a:r>
            <a:endParaRPr lang="en-US" sz="1050" dirty="0"/>
          </a:p>
        </p:txBody>
      </p:sp>
      <p:sp>
        <p:nvSpPr>
          <p:cNvPr id="17" name="Text 15"/>
          <p:cNvSpPr txBox="1"/>
          <p:nvPr/>
        </p:nvSpPr>
        <p:spPr>
          <a:xfrm>
            <a:off x="4151376" y="4774082"/>
            <a:ext cx="2194560" cy="201168"/>
          </a:xfrm>
          <a:prstGeom prst="rect">
            <a:avLst/>
          </a:prstGeom>
          <a:noFill/>
          <a:ln/>
        </p:spPr>
        <p:txBody>
          <a:bodyPr wrap="square" lIns="0" tIns="0" rIns="0" bIns="0" rtlCol="0" anchor="ctr"/>
          <a:lstStyle/>
          <a:p>
            <a:pPr indent="0" marL="0">
              <a:buNone/>
            </a:pPr>
            <a:r>
              <a:rPr lang="en-US" sz="850" dirty="0">
                <a:solidFill>
                  <a:srgbClr val="64786A"/>
                </a:solidFill>
                <a:latin typeface="Calibri" pitchFamily="34" charset="0"/>
                <a:ea typeface="Calibri" pitchFamily="34" charset="-122"/>
                <a:cs typeface="Calibri" pitchFamily="34" charset="-120"/>
              </a:rPr>
              <a:t>Inputs commerce · 5M+ farmers</a:t>
            </a:r>
            <a:endParaRPr lang="en-US" sz="850" dirty="0"/>
          </a:p>
        </p:txBody>
      </p:sp>
      <p:sp>
        <p:nvSpPr>
          <p:cNvPr id="18" name="Shape 16"/>
          <p:cNvSpPr/>
          <p:nvPr/>
        </p:nvSpPr>
        <p:spPr>
          <a:xfrm>
            <a:off x="5009083" y="5349240"/>
            <a:ext cx="128016" cy="128016"/>
          </a:xfrm>
          <a:prstGeom prst="ellipse">
            <a:avLst/>
          </a:prstGeom>
          <a:solidFill>
            <a:srgbClr val="D98A00"/>
          </a:solidFill>
          <a:ln/>
        </p:spPr>
      </p:sp>
      <p:sp>
        <p:nvSpPr>
          <p:cNvPr id="19" name="Text 17"/>
          <p:cNvSpPr txBox="1"/>
          <p:nvPr/>
        </p:nvSpPr>
        <p:spPr>
          <a:xfrm>
            <a:off x="5182819" y="5294376"/>
            <a:ext cx="2103120" cy="201168"/>
          </a:xfrm>
          <a:prstGeom prst="rect">
            <a:avLst/>
          </a:prstGeom>
          <a:noFill/>
          <a:ln/>
        </p:spPr>
        <p:txBody>
          <a:bodyPr wrap="square" lIns="0" tIns="0" rIns="0" bIns="0" rtlCol="0" anchor="ctr"/>
          <a:lstStyle/>
          <a:p>
            <a:pPr indent="0" marL="0">
              <a:buNone/>
            </a:pPr>
            <a:r>
              <a:rPr lang="en-US" sz="1050" b="1" dirty="0">
                <a:solidFill>
                  <a:srgbClr val="15211A"/>
                </a:solidFill>
                <a:latin typeface="Calibri" pitchFamily="34" charset="0"/>
                <a:ea typeface="Calibri" pitchFamily="34" charset="-122"/>
                <a:cs typeface="Calibri" pitchFamily="34" charset="-120"/>
              </a:rPr>
              <a:t>DeHaat</a:t>
            </a:r>
            <a:endParaRPr lang="en-US" sz="1050" dirty="0"/>
          </a:p>
        </p:txBody>
      </p:sp>
      <p:sp>
        <p:nvSpPr>
          <p:cNvPr id="20" name="Text 18"/>
          <p:cNvSpPr txBox="1"/>
          <p:nvPr/>
        </p:nvSpPr>
        <p:spPr>
          <a:xfrm>
            <a:off x="5182819" y="5468112"/>
            <a:ext cx="2194560" cy="201168"/>
          </a:xfrm>
          <a:prstGeom prst="rect">
            <a:avLst/>
          </a:prstGeom>
          <a:noFill/>
          <a:ln/>
        </p:spPr>
        <p:txBody>
          <a:bodyPr wrap="square" lIns="0" tIns="0" rIns="0" bIns="0" rtlCol="0" anchor="ctr"/>
          <a:lstStyle/>
          <a:p>
            <a:pPr indent="0" marL="0">
              <a:buNone/>
            </a:pPr>
            <a:r>
              <a:rPr lang="en-US" sz="850" dirty="0">
                <a:solidFill>
                  <a:srgbClr val="64786A"/>
                </a:solidFill>
                <a:latin typeface="Calibri" pitchFamily="34" charset="0"/>
                <a:ea typeface="Calibri" pitchFamily="34" charset="-122"/>
                <a:cs typeface="Calibri" pitchFamily="34" charset="-120"/>
              </a:rPr>
              <a:t>Full-stack supply chain</a:t>
            </a:r>
            <a:endParaRPr lang="en-US" sz="850" dirty="0"/>
          </a:p>
        </p:txBody>
      </p:sp>
      <p:sp>
        <p:nvSpPr>
          <p:cNvPr id="21" name="Shape 19"/>
          <p:cNvSpPr/>
          <p:nvPr/>
        </p:nvSpPr>
        <p:spPr>
          <a:xfrm>
            <a:off x="7243877" y="5439766"/>
            <a:ext cx="128016" cy="128016"/>
          </a:xfrm>
          <a:prstGeom prst="ellipse">
            <a:avLst/>
          </a:prstGeom>
          <a:solidFill>
            <a:srgbClr val="B02A6E"/>
          </a:solidFill>
          <a:ln/>
        </p:spPr>
      </p:sp>
      <p:sp>
        <p:nvSpPr>
          <p:cNvPr id="22" name="Text 20"/>
          <p:cNvSpPr txBox="1"/>
          <p:nvPr/>
        </p:nvSpPr>
        <p:spPr>
          <a:xfrm>
            <a:off x="7417613" y="5384902"/>
            <a:ext cx="2103120" cy="201168"/>
          </a:xfrm>
          <a:prstGeom prst="rect">
            <a:avLst/>
          </a:prstGeom>
          <a:noFill/>
          <a:ln/>
        </p:spPr>
        <p:txBody>
          <a:bodyPr wrap="square" lIns="0" tIns="0" rIns="0" bIns="0" rtlCol="0" anchor="ctr"/>
          <a:lstStyle/>
          <a:p>
            <a:pPr indent="0" marL="0">
              <a:buNone/>
            </a:pPr>
            <a:r>
              <a:rPr lang="en-US" sz="1050" b="1" dirty="0">
                <a:solidFill>
                  <a:srgbClr val="15211A"/>
                </a:solidFill>
                <a:latin typeface="Calibri" pitchFamily="34" charset="0"/>
                <a:ea typeface="Calibri" pitchFamily="34" charset="-122"/>
                <a:cs typeface="Calibri" pitchFamily="34" charset="-120"/>
              </a:rPr>
              <a:t>Kisan Suvidha</a:t>
            </a:r>
            <a:endParaRPr lang="en-US" sz="1050" dirty="0"/>
          </a:p>
        </p:txBody>
      </p:sp>
      <p:sp>
        <p:nvSpPr>
          <p:cNvPr id="23" name="Text 21"/>
          <p:cNvSpPr txBox="1"/>
          <p:nvPr/>
        </p:nvSpPr>
        <p:spPr>
          <a:xfrm>
            <a:off x="7417613" y="5558638"/>
            <a:ext cx="2194560" cy="201168"/>
          </a:xfrm>
          <a:prstGeom prst="rect">
            <a:avLst/>
          </a:prstGeom>
          <a:noFill/>
          <a:ln/>
        </p:spPr>
        <p:txBody>
          <a:bodyPr wrap="square" lIns="0" tIns="0" rIns="0" bIns="0" rtlCol="0" anchor="ctr"/>
          <a:lstStyle/>
          <a:p>
            <a:pPr indent="0" marL="0">
              <a:buNone/>
            </a:pPr>
            <a:r>
              <a:rPr lang="en-US" sz="850" dirty="0">
                <a:solidFill>
                  <a:srgbClr val="64786A"/>
                </a:solidFill>
                <a:latin typeface="Calibri" pitchFamily="34" charset="0"/>
                <a:ea typeface="Calibri" pitchFamily="34" charset="-122"/>
                <a:cs typeface="Calibri" pitchFamily="34" charset="-120"/>
              </a:rPr>
              <a:t>Govt · mandi prices, weather</a:t>
            </a:r>
            <a:endParaRPr lang="en-US" sz="850" dirty="0"/>
          </a:p>
        </p:txBody>
      </p:sp>
      <p:sp>
        <p:nvSpPr>
          <p:cNvPr id="24" name="Shape 22"/>
          <p:cNvSpPr/>
          <p:nvPr/>
        </p:nvSpPr>
        <p:spPr>
          <a:xfrm>
            <a:off x="8791042" y="3236976"/>
            <a:ext cx="128016" cy="128016"/>
          </a:xfrm>
          <a:prstGeom prst="ellipse">
            <a:avLst/>
          </a:prstGeom>
          <a:solidFill>
            <a:srgbClr val="1F6FB2"/>
          </a:solidFill>
          <a:ln/>
        </p:spPr>
      </p:sp>
      <p:sp>
        <p:nvSpPr>
          <p:cNvPr id="25" name="Text 23"/>
          <p:cNvSpPr txBox="1"/>
          <p:nvPr/>
        </p:nvSpPr>
        <p:spPr>
          <a:xfrm>
            <a:off x="8964778" y="3182112"/>
            <a:ext cx="2103120" cy="201168"/>
          </a:xfrm>
          <a:prstGeom prst="rect">
            <a:avLst/>
          </a:prstGeom>
          <a:noFill/>
          <a:ln/>
        </p:spPr>
        <p:txBody>
          <a:bodyPr wrap="square" lIns="0" tIns="0" rIns="0" bIns="0" rtlCol="0" anchor="ctr"/>
          <a:lstStyle/>
          <a:p>
            <a:pPr indent="0" marL="0">
              <a:buNone/>
            </a:pPr>
            <a:r>
              <a:rPr lang="en-US" sz="1050" b="1" dirty="0">
                <a:solidFill>
                  <a:srgbClr val="15211A"/>
                </a:solidFill>
                <a:latin typeface="Calibri" pitchFamily="34" charset="0"/>
                <a:ea typeface="Calibri" pitchFamily="34" charset="-122"/>
                <a:cs typeface="Calibri" pitchFamily="34" charset="-120"/>
              </a:rPr>
              <a:t>CropIn</a:t>
            </a:r>
            <a:endParaRPr lang="en-US" sz="1050" dirty="0"/>
          </a:p>
        </p:txBody>
      </p:sp>
      <p:sp>
        <p:nvSpPr>
          <p:cNvPr id="26" name="Text 24"/>
          <p:cNvSpPr txBox="1"/>
          <p:nvPr/>
        </p:nvSpPr>
        <p:spPr>
          <a:xfrm>
            <a:off x="8964778" y="3355848"/>
            <a:ext cx="2194560" cy="201168"/>
          </a:xfrm>
          <a:prstGeom prst="rect">
            <a:avLst/>
          </a:prstGeom>
          <a:noFill/>
          <a:ln/>
        </p:spPr>
        <p:txBody>
          <a:bodyPr wrap="square" lIns="0" tIns="0" rIns="0" bIns="0" rtlCol="0" anchor="ctr"/>
          <a:lstStyle/>
          <a:p>
            <a:pPr indent="0" marL="0">
              <a:buNone/>
            </a:pPr>
            <a:r>
              <a:rPr lang="en-US" sz="850" dirty="0">
                <a:solidFill>
                  <a:srgbClr val="64786A"/>
                </a:solidFill>
                <a:latin typeface="Calibri" pitchFamily="34" charset="0"/>
                <a:ea typeface="Calibri" pitchFamily="34" charset="-122"/>
                <a:cs typeface="Calibri" pitchFamily="34" charset="-120"/>
              </a:rPr>
              <a:t>250+ clients, 52 countries</a:t>
            </a:r>
            <a:endParaRPr lang="en-US" sz="850" dirty="0"/>
          </a:p>
        </p:txBody>
      </p:sp>
      <p:sp>
        <p:nvSpPr>
          <p:cNvPr id="27" name="Shape 25"/>
          <p:cNvSpPr/>
          <p:nvPr/>
        </p:nvSpPr>
        <p:spPr>
          <a:xfrm>
            <a:off x="7759598" y="3810305"/>
            <a:ext cx="128016" cy="128016"/>
          </a:xfrm>
          <a:prstGeom prst="ellipse">
            <a:avLst/>
          </a:prstGeom>
          <a:solidFill>
            <a:srgbClr val="1F6FB2"/>
          </a:solidFill>
          <a:ln/>
        </p:spPr>
      </p:sp>
      <p:sp>
        <p:nvSpPr>
          <p:cNvPr id="28" name="Text 26"/>
          <p:cNvSpPr txBox="1"/>
          <p:nvPr/>
        </p:nvSpPr>
        <p:spPr>
          <a:xfrm>
            <a:off x="7933334" y="3755441"/>
            <a:ext cx="2103120" cy="201168"/>
          </a:xfrm>
          <a:prstGeom prst="rect">
            <a:avLst/>
          </a:prstGeom>
          <a:noFill/>
          <a:ln/>
        </p:spPr>
        <p:txBody>
          <a:bodyPr wrap="square" lIns="0" tIns="0" rIns="0" bIns="0" rtlCol="0" anchor="ctr"/>
          <a:lstStyle/>
          <a:p>
            <a:pPr indent="0" marL="0">
              <a:buNone/>
            </a:pPr>
            <a:r>
              <a:rPr lang="en-US" sz="1050" b="1" dirty="0">
                <a:solidFill>
                  <a:srgbClr val="15211A"/>
                </a:solidFill>
                <a:latin typeface="Calibri" pitchFamily="34" charset="0"/>
                <a:ea typeface="Calibri" pitchFamily="34" charset="-122"/>
                <a:cs typeface="Calibri" pitchFamily="34" charset="-120"/>
              </a:rPr>
              <a:t>Fasal</a:t>
            </a:r>
            <a:endParaRPr lang="en-US" sz="1050" dirty="0"/>
          </a:p>
        </p:txBody>
      </p:sp>
      <p:sp>
        <p:nvSpPr>
          <p:cNvPr id="29" name="Text 27"/>
          <p:cNvSpPr txBox="1"/>
          <p:nvPr/>
        </p:nvSpPr>
        <p:spPr>
          <a:xfrm>
            <a:off x="7933334" y="3929177"/>
            <a:ext cx="2194560" cy="201168"/>
          </a:xfrm>
          <a:prstGeom prst="rect">
            <a:avLst/>
          </a:prstGeom>
          <a:noFill/>
          <a:ln/>
        </p:spPr>
        <p:txBody>
          <a:bodyPr wrap="square" lIns="0" tIns="0" rIns="0" bIns="0" rtlCol="0" anchor="ctr"/>
          <a:lstStyle/>
          <a:p>
            <a:pPr indent="0" marL="0">
              <a:buNone/>
            </a:pPr>
            <a:r>
              <a:rPr lang="en-US" sz="850" dirty="0">
                <a:solidFill>
                  <a:srgbClr val="64786A"/>
                </a:solidFill>
                <a:latin typeface="Calibri" pitchFamily="34" charset="0"/>
                <a:ea typeface="Calibri" pitchFamily="34" charset="-122"/>
                <a:cs typeface="Calibri" pitchFamily="34" charset="-120"/>
              </a:rPr>
              <a:t>IoT precision ag</a:t>
            </a:r>
            <a:endParaRPr lang="en-US" sz="850" dirty="0"/>
          </a:p>
        </p:txBody>
      </p:sp>
      <p:sp>
        <p:nvSpPr>
          <p:cNvPr id="30" name="Shape 28"/>
          <p:cNvSpPr/>
          <p:nvPr/>
        </p:nvSpPr>
        <p:spPr>
          <a:xfrm>
            <a:off x="2995574" y="3109874"/>
            <a:ext cx="201168" cy="201168"/>
          </a:xfrm>
          <a:prstGeom prst="ellipse">
            <a:avLst/>
          </a:prstGeom>
          <a:solidFill>
            <a:srgbClr val="157F3D"/>
          </a:solidFill>
          <a:ln w="25400">
            <a:solidFill>
              <a:srgbClr val="FFFFFF"/>
            </a:solidFill>
            <a:prstDash val="solid"/>
          </a:ln>
        </p:spPr>
      </p:sp>
      <p:sp>
        <p:nvSpPr>
          <p:cNvPr id="31" name="Text 29"/>
          <p:cNvSpPr txBox="1"/>
          <p:nvPr/>
        </p:nvSpPr>
        <p:spPr>
          <a:xfrm>
            <a:off x="3260750" y="3064154"/>
            <a:ext cx="2468880" cy="237744"/>
          </a:xfrm>
          <a:prstGeom prst="rect">
            <a:avLst/>
          </a:prstGeom>
          <a:noFill/>
          <a:ln/>
        </p:spPr>
        <p:txBody>
          <a:bodyPr wrap="square" lIns="0" tIns="0" rIns="0" bIns="0" rtlCol="0" anchor="ctr"/>
          <a:lstStyle/>
          <a:p>
            <a:pPr indent="0" marL="0">
              <a:buNone/>
            </a:pPr>
            <a:r>
              <a:rPr lang="en-US" sz="1250" b="1" dirty="0">
                <a:solidFill>
                  <a:srgbClr val="157F3D"/>
                </a:solidFill>
                <a:latin typeface="Calibri" pitchFamily="34" charset="0"/>
                <a:ea typeface="Calibri" pitchFamily="34" charset="-122"/>
                <a:cs typeface="Calibri" pitchFamily="34" charset="-120"/>
              </a:rPr>
              <a:t>AgriMitra Climate</a:t>
            </a:r>
            <a:endParaRPr lang="en-US" sz="1250" dirty="0"/>
          </a:p>
        </p:txBody>
      </p:sp>
      <p:sp>
        <p:nvSpPr>
          <p:cNvPr id="32" name="Text 30"/>
          <p:cNvSpPr txBox="1"/>
          <p:nvPr/>
        </p:nvSpPr>
        <p:spPr>
          <a:xfrm>
            <a:off x="3260750" y="3283610"/>
            <a:ext cx="2743200" cy="219456"/>
          </a:xfrm>
          <a:prstGeom prst="rect">
            <a:avLst/>
          </a:prstGeom>
          <a:noFill/>
          <a:ln/>
        </p:spPr>
        <p:txBody>
          <a:bodyPr wrap="square" lIns="0" tIns="0" rIns="0" bIns="0" rtlCol="0" anchor="ctr"/>
          <a:lstStyle/>
          <a:p>
            <a:pPr indent="0" marL="0">
              <a:buNone/>
            </a:pPr>
            <a:r>
              <a:rPr lang="en-US" sz="900" dirty="0">
                <a:solidFill>
                  <a:srgbClr val="425446"/>
                </a:solidFill>
                <a:latin typeface="Calibri" pitchFamily="34" charset="0"/>
                <a:ea typeface="Calibri" pitchFamily="34" charset="-122"/>
                <a:cs typeface="Calibri" pitchFamily="34" charset="-120"/>
              </a:rPr>
              <a:t>Field-level decision, farmer-facing, open</a:t>
            </a:r>
            <a:endParaRPr lang="en-US" sz="900" dirty="0"/>
          </a:p>
        </p:txBody>
      </p:sp>
      <p:sp>
        <p:nvSpPr>
          <p:cNvPr id="33" name="Shape 31"/>
          <p:cNvSpPr/>
          <p:nvPr/>
        </p:nvSpPr>
        <p:spPr>
          <a:xfrm>
            <a:off x="658368" y="6144768"/>
            <a:ext cx="100584" cy="100584"/>
          </a:xfrm>
          <a:prstGeom prst="ellipse">
            <a:avLst/>
          </a:prstGeom>
          <a:solidFill>
            <a:srgbClr val="D98A00"/>
          </a:solidFill>
          <a:ln/>
        </p:spPr>
      </p:sp>
      <p:sp>
        <p:nvSpPr>
          <p:cNvPr id="34" name="Text 32"/>
          <p:cNvSpPr txBox="1"/>
          <p:nvPr/>
        </p:nvSpPr>
        <p:spPr>
          <a:xfrm>
            <a:off x="822960" y="6080760"/>
            <a:ext cx="2377440" cy="219456"/>
          </a:xfrm>
          <a:prstGeom prst="rect">
            <a:avLst/>
          </a:prstGeom>
          <a:noFill/>
          <a:ln/>
        </p:spPr>
        <p:txBody>
          <a:bodyPr wrap="square" lIns="0" tIns="0" rIns="0" bIns="0" rtlCol="0" anchor="ctr"/>
          <a:lstStyle/>
          <a:p>
            <a:pPr indent="0" marL="0">
              <a:buNone/>
            </a:pPr>
            <a:r>
              <a:rPr lang="en-US" sz="950" dirty="0">
                <a:solidFill>
                  <a:srgbClr val="425446"/>
                </a:solidFill>
                <a:latin typeface="Calibri" pitchFamily="34" charset="0"/>
                <a:ea typeface="Calibri" pitchFamily="34" charset="-122"/>
                <a:cs typeface="Calibri" pitchFamily="34" charset="-120"/>
              </a:rPr>
              <a:t>Consumer agritech startup</a:t>
            </a:r>
            <a:endParaRPr lang="en-US" sz="950" dirty="0"/>
          </a:p>
        </p:txBody>
      </p:sp>
      <p:sp>
        <p:nvSpPr>
          <p:cNvPr id="35" name="Shape 33"/>
          <p:cNvSpPr/>
          <p:nvPr/>
        </p:nvSpPr>
        <p:spPr>
          <a:xfrm>
            <a:off x="3310128" y="6144768"/>
            <a:ext cx="100584" cy="100584"/>
          </a:xfrm>
          <a:prstGeom prst="ellipse">
            <a:avLst/>
          </a:prstGeom>
          <a:solidFill>
            <a:srgbClr val="1F6FB2"/>
          </a:solidFill>
          <a:ln/>
        </p:spPr>
      </p:sp>
      <p:sp>
        <p:nvSpPr>
          <p:cNvPr id="36" name="Text 34"/>
          <p:cNvSpPr txBox="1"/>
          <p:nvPr/>
        </p:nvSpPr>
        <p:spPr>
          <a:xfrm>
            <a:off x="3474720" y="6080760"/>
            <a:ext cx="2377440" cy="219456"/>
          </a:xfrm>
          <a:prstGeom prst="rect">
            <a:avLst/>
          </a:prstGeom>
          <a:noFill/>
          <a:ln/>
        </p:spPr>
        <p:txBody>
          <a:bodyPr wrap="square" lIns="0" tIns="0" rIns="0" bIns="0" rtlCol="0" anchor="ctr"/>
          <a:lstStyle/>
          <a:p>
            <a:pPr indent="0" marL="0">
              <a:buNone/>
            </a:pPr>
            <a:r>
              <a:rPr lang="en-US" sz="950" dirty="0">
                <a:solidFill>
                  <a:srgbClr val="425446"/>
                </a:solidFill>
                <a:latin typeface="Calibri" pitchFamily="34" charset="0"/>
                <a:ea typeface="Calibri" pitchFamily="34" charset="-122"/>
                <a:cs typeface="Calibri" pitchFamily="34" charset="-120"/>
              </a:rPr>
              <a:t>Enterprise / B2B platform</a:t>
            </a:r>
            <a:endParaRPr lang="en-US" sz="950" dirty="0"/>
          </a:p>
        </p:txBody>
      </p:sp>
      <p:sp>
        <p:nvSpPr>
          <p:cNvPr id="37" name="Shape 35"/>
          <p:cNvSpPr/>
          <p:nvPr/>
        </p:nvSpPr>
        <p:spPr>
          <a:xfrm>
            <a:off x="5961888" y="6144768"/>
            <a:ext cx="100584" cy="100584"/>
          </a:xfrm>
          <a:prstGeom prst="ellipse">
            <a:avLst/>
          </a:prstGeom>
          <a:solidFill>
            <a:srgbClr val="B02A6E"/>
          </a:solidFill>
          <a:ln/>
        </p:spPr>
      </p:sp>
      <p:sp>
        <p:nvSpPr>
          <p:cNvPr id="38" name="Text 36"/>
          <p:cNvSpPr txBox="1"/>
          <p:nvPr/>
        </p:nvSpPr>
        <p:spPr>
          <a:xfrm>
            <a:off x="6126480" y="6080760"/>
            <a:ext cx="2377440" cy="219456"/>
          </a:xfrm>
          <a:prstGeom prst="rect">
            <a:avLst/>
          </a:prstGeom>
          <a:noFill/>
          <a:ln/>
        </p:spPr>
        <p:txBody>
          <a:bodyPr wrap="square" lIns="0" tIns="0" rIns="0" bIns="0" rtlCol="0" anchor="ctr"/>
          <a:lstStyle/>
          <a:p>
            <a:pPr indent="0" marL="0">
              <a:buNone/>
            </a:pPr>
            <a:r>
              <a:rPr lang="en-US" sz="950" dirty="0">
                <a:solidFill>
                  <a:srgbClr val="425446"/>
                </a:solidFill>
                <a:latin typeface="Calibri" pitchFamily="34" charset="0"/>
                <a:ea typeface="Calibri" pitchFamily="34" charset="-122"/>
                <a:cs typeface="Calibri" pitchFamily="34" charset="-120"/>
              </a:rPr>
              <a:t>Government service</a:t>
            </a:r>
            <a:endParaRPr lang="en-US" sz="950" dirty="0"/>
          </a:p>
        </p:txBody>
      </p:sp>
      <p:sp>
        <p:nvSpPr>
          <p:cNvPr id="39" name="Shape 37"/>
          <p:cNvSpPr/>
          <p:nvPr/>
        </p:nvSpPr>
        <p:spPr>
          <a:xfrm>
            <a:off x="8613648" y="6144768"/>
            <a:ext cx="100584" cy="100584"/>
          </a:xfrm>
          <a:prstGeom prst="ellipse">
            <a:avLst/>
          </a:prstGeom>
          <a:solidFill>
            <a:srgbClr val="157F3D"/>
          </a:solidFill>
          <a:ln/>
        </p:spPr>
      </p:sp>
      <p:sp>
        <p:nvSpPr>
          <p:cNvPr id="40" name="Text 38"/>
          <p:cNvSpPr txBox="1"/>
          <p:nvPr/>
        </p:nvSpPr>
        <p:spPr>
          <a:xfrm>
            <a:off x="8778240" y="6080760"/>
            <a:ext cx="2377440" cy="219456"/>
          </a:xfrm>
          <a:prstGeom prst="rect">
            <a:avLst/>
          </a:prstGeom>
          <a:noFill/>
          <a:ln/>
        </p:spPr>
        <p:txBody>
          <a:bodyPr wrap="square" lIns="0" tIns="0" rIns="0" bIns="0" rtlCol="0" anchor="ctr"/>
          <a:lstStyle/>
          <a:p>
            <a:pPr indent="0" marL="0">
              <a:buNone/>
            </a:pPr>
            <a:r>
              <a:rPr lang="en-US" sz="950" dirty="0">
                <a:solidFill>
                  <a:srgbClr val="425446"/>
                </a:solidFill>
                <a:latin typeface="Calibri" pitchFamily="34" charset="0"/>
                <a:ea typeface="Calibri" pitchFamily="34" charset="-122"/>
                <a:cs typeface="Calibri" pitchFamily="34" charset="-120"/>
              </a:rPr>
              <a:t>This project</a:t>
            </a:r>
            <a:endParaRPr lang="en-US" sz="950" dirty="0"/>
          </a:p>
        </p:txBody>
      </p:sp>
      <p:sp>
        <p:nvSpPr>
          <p:cNvPr id="41" name="Text 39"/>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EF"/>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MARKET · WHO DOES WHAT</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The landscape, honestly.</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These are strong products. The gap is not that they are bad — it is that none closes the loop from satellite and soil to a decision the farmer can act on, and none is built to be shared between states.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 y="2743200"/>
          <a:ext cx="10874959" cy="914400"/>
        </p:xfrm>
        <a:graphic>
          <a:graphicData uri="http://schemas.openxmlformats.org/drawingml/2006/table">
            <a:tbl>
              <a:tblPr/>
              <a:tblGrid>
                <a:gridCol w="1737360"/>
                <a:gridCol w="1188720"/>
                <a:gridCol w="3749040"/>
                <a:gridCol w="1371600"/>
                <a:gridCol w="2834640"/>
              </a:tblGrid>
              <a:tr h="0">
                <a:tc>
                  <a:txBody>
                    <a:bodyPr/>
                    <a:lstStyle/>
                    <a:p>
                      <a:pPr indent="0" marL="0">
                        <a:buNone/>
                      </a:pPr>
                      <a:r>
                        <a:rPr lang="en-US" sz="900" b="1" dirty="0">
                          <a:solidFill>
                            <a:srgbClr val="64786A"/>
                          </a:solidFill>
                          <a:latin typeface="Calibri" pitchFamily="34" charset="0"/>
                          <a:ea typeface="Calibri" pitchFamily="34" charset="-122"/>
                          <a:cs typeface="Calibri" pitchFamily="34" charset="-120"/>
                        </a:rPr>
                        <a:t>Product</a:t>
                      </a:r>
                      <a:endParaRPr lang="en-US" sz="90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2F7EF"/>
                    </a:solidFill>
                  </a:tcPr>
                </a:tc>
                <a:tc>
                  <a:txBody>
                    <a:bodyPr/>
                    <a:lstStyle/>
                    <a:p>
                      <a:pPr indent="0" marL="0">
                        <a:buNone/>
                      </a:pPr>
                      <a:r>
                        <a:rPr lang="en-US" sz="900" b="1" dirty="0">
                          <a:solidFill>
                            <a:srgbClr val="64786A"/>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2F7EF"/>
                    </a:solidFill>
                  </a:tcPr>
                </a:tc>
                <a:tc>
                  <a:txBody>
                    <a:bodyPr/>
                    <a:lstStyle/>
                    <a:p>
                      <a:pPr indent="0" marL="0">
                        <a:buNone/>
                      </a:pPr>
                      <a:r>
                        <a:rPr lang="en-US" sz="900" b="1" dirty="0">
                          <a:solidFill>
                            <a:srgbClr val="64786A"/>
                          </a:solidFill>
                          <a:latin typeface="Calibri" pitchFamily="34" charset="0"/>
                          <a:ea typeface="Calibri" pitchFamily="34" charset="-122"/>
                          <a:cs typeface="Calibri" pitchFamily="34" charset="-120"/>
                        </a:rPr>
                        <a:t>Core strength</a:t>
                      </a:r>
                      <a:endParaRPr lang="en-US" sz="90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2F7EF"/>
                    </a:solidFill>
                  </a:tcPr>
                </a:tc>
                <a:tc>
                  <a:txBody>
                    <a:bodyPr/>
                    <a:lstStyle/>
                    <a:p>
                      <a:pPr indent="0" marL="0">
                        <a:buNone/>
                      </a:pPr>
                      <a:r>
                        <a:rPr lang="en-US" sz="900" b="1" dirty="0">
                          <a:solidFill>
                            <a:srgbClr val="64786A"/>
                          </a:solidFill>
                          <a:latin typeface="Calibri" pitchFamily="34" charset="0"/>
                          <a:ea typeface="Calibri" pitchFamily="34" charset="-122"/>
                          <a:cs typeface="Calibri" pitchFamily="34" charset="-120"/>
                        </a:rPr>
                        <a:t>Scale</a:t>
                      </a:r>
                      <a:endParaRPr lang="en-US" sz="90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2F7EF"/>
                    </a:solidFill>
                  </a:tcPr>
                </a:tc>
                <a:tc>
                  <a:txBody>
                    <a:bodyPr/>
                    <a:lstStyle/>
                    <a:p>
                      <a:pPr indent="0" marL="0">
                        <a:buNone/>
                      </a:pPr>
                      <a:r>
                        <a:rPr lang="en-US" sz="900" b="1" dirty="0">
                          <a:solidFill>
                            <a:srgbClr val="64786A"/>
                          </a:solidFill>
                          <a:latin typeface="Calibri" pitchFamily="34" charset="0"/>
                          <a:ea typeface="Calibri" pitchFamily="34" charset="-122"/>
                          <a:cs typeface="Calibri" pitchFamily="34" charset="-120"/>
                        </a:rPr>
                        <a:t>Gap this leaves</a:t>
                      </a:r>
                      <a:endParaRPr lang="en-US" sz="90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2F7EF"/>
                    </a:solidFill>
                  </a:tcPr>
                </a:tc>
              </a:tr>
              <a:tr h="0">
                <a:tc>
                  <a:txBody>
                    <a:bodyPr/>
                    <a:lstStyle/>
                    <a:p>
                      <a:pPr indent="0" marL="0">
                        <a:buNone/>
                      </a:pPr>
                      <a:r>
                        <a:rPr lang="en-US" sz="950" b="1" dirty="0">
                          <a:solidFill>
                            <a:srgbClr val="425446"/>
                          </a:solidFill>
                          <a:latin typeface="Calibri" pitchFamily="34" charset="0"/>
                          <a:ea typeface="Calibri" pitchFamily="34" charset="-122"/>
                          <a:cs typeface="Calibri" pitchFamily="34" charset="-120"/>
                        </a:rPr>
                        <a:t>Plantix</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Startup</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Best-in-class photo disease diagnosis, free, many Indian languages</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Diagnosis only; no soil, satellite or field risk</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425446"/>
                          </a:solidFill>
                          <a:latin typeface="Calibri" pitchFamily="34" charset="0"/>
                          <a:ea typeface="Calibri" pitchFamily="34" charset="-122"/>
                          <a:cs typeface="Calibri" pitchFamily="34" charset="-120"/>
                        </a:rPr>
                        <a:t>AgroStar</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Startup</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Content-led input commerce; farmers post crop photos for advice</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5M+ farmers</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Advisory serves product sales, not a neutral decision layer</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425446"/>
                          </a:solidFill>
                          <a:latin typeface="Calibri" pitchFamily="34" charset="0"/>
                          <a:ea typeface="Calibri" pitchFamily="34" charset="-122"/>
                          <a:cs typeface="Calibri" pitchFamily="34" charset="-120"/>
                        </a:rPr>
                        <a:t>DeHaat</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Startup</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Full-stack inputs, advisory and market linkage across 12 states</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$700M+ val.</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Supply-chain first; satellite risk is not the product</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425446"/>
                          </a:solidFill>
                          <a:latin typeface="Calibri" pitchFamily="34" charset="0"/>
                          <a:ea typeface="Calibri" pitchFamily="34" charset="-122"/>
                          <a:cs typeface="Calibri" pitchFamily="34" charset="-120"/>
                        </a:rPr>
                        <a:t>CropIn</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Enterprise</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Satellite + ML farm intelligence; Gemini partnership since 2024</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52 countries</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Sold to agribusiness, not reachable by a 0.8 ha farmer</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425446"/>
                          </a:solidFill>
                          <a:latin typeface="Calibri" pitchFamily="34" charset="0"/>
                          <a:ea typeface="Calibri" pitchFamily="34" charset="-122"/>
                          <a:cs typeface="Calibri" pitchFamily="34" charset="-120"/>
                        </a:rPr>
                        <a:t>Fasal</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Enterprise</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IoT sensors driving hyper-local irrigation and spray timing</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Requires hardware per farm; capital cost excludes smallholders</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425446"/>
                          </a:solidFill>
                          <a:latin typeface="Calibri" pitchFamily="34" charset="0"/>
                          <a:ea typeface="Calibri" pitchFamily="34" charset="-122"/>
                          <a:cs typeface="Calibri" pitchFamily="34" charset="-120"/>
                        </a:rPr>
                        <a:t>Kisan Suvidha</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Government</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Official mandi prices, weather and advisories, free</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National</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950" dirty="0">
                          <a:solidFill>
                            <a:srgbClr val="425446"/>
                          </a:solidFill>
                          <a:latin typeface="Calibri" pitchFamily="34" charset="0"/>
                          <a:ea typeface="Calibri" pitchFamily="34" charset="-122"/>
                          <a:cs typeface="Calibri" pitchFamily="34" charset="-120"/>
                        </a:rPr>
                        <a:t>Reference data, not analysis; nothing is field-specific</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0D5528"/>
                          </a:solidFill>
                          <a:latin typeface="Calibri" pitchFamily="34" charset="0"/>
                          <a:ea typeface="Calibri" pitchFamily="34" charset="-122"/>
                          <a:cs typeface="Calibri" pitchFamily="34" charset="-120"/>
                        </a:rPr>
                        <a:t>AgriMitra Climate</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E6F2E7"/>
                    </a:solidFill>
                  </a:tcPr>
                </a:tc>
                <a:tc>
                  <a:txBody>
                    <a:bodyPr/>
                    <a:lstStyle/>
                    <a:p>
                      <a:pPr indent="0" marL="0">
                        <a:buNone/>
                      </a:pPr>
                      <a:r>
                        <a:rPr lang="en-US" sz="950" b="1" dirty="0">
                          <a:solidFill>
                            <a:srgbClr val="0D5528"/>
                          </a:solidFill>
                          <a:latin typeface="Calibri" pitchFamily="34" charset="0"/>
                          <a:ea typeface="Calibri" pitchFamily="34" charset="-122"/>
                          <a:cs typeface="Calibri" pitchFamily="34" charset="-120"/>
                        </a:rPr>
                        <a:t>This project</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E6F2E7"/>
                    </a:solidFill>
                  </a:tcPr>
                </a:tc>
                <a:tc>
                  <a:txBody>
                    <a:bodyPr/>
                    <a:lstStyle/>
                    <a:p>
                      <a:pPr indent="0" marL="0">
                        <a:buNone/>
                      </a:pPr>
                      <a:r>
                        <a:rPr lang="en-US" sz="950" b="1" dirty="0">
                          <a:solidFill>
                            <a:srgbClr val="0D5528"/>
                          </a:solidFill>
                          <a:latin typeface="Calibri" pitchFamily="34" charset="0"/>
                          <a:ea typeface="Calibri" pitchFamily="34" charset="-122"/>
                          <a:cs typeface="Calibri" pitchFamily="34" charset="-120"/>
                        </a:rPr>
                        <a:t>Satellite + soil + weather + leaf → one explainable field risk score</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E6F2E7"/>
                    </a:solidFill>
                  </a:tcPr>
                </a:tc>
                <a:tc>
                  <a:txBody>
                    <a:bodyPr/>
                    <a:lstStyle/>
                    <a:p>
                      <a:pPr indent="0" marL="0">
                        <a:buNone/>
                      </a:pPr>
                      <a:r>
                        <a:rPr lang="en-US" sz="950" b="1" dirty="0">
                          <a:solidFill>
                            <a:srgbClr val="0D5528"/>
                          </a:solidFill>
                          <a:latin typeface="Calibri" pitchFamily="34" charset="0"/>
                          <a:ea typeface="Calibri" pitchFamily="34" charset="-122"/>
                          <a:cs typeface="Calibri" pitchFamily="34" charset="-120"/>
                        </a:rPr>
                        <a:t>Hackathon build</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E6F2E7"/>
                    </a:solidFill>
                  </a:tcPr>
                </a:tc>
                <a:tc>
                  <a:txBody>
                    <a:bodyPr/>
                    <a:lstStyle/>
                    <a:p>
                      <a:pPr indent="0" marL="0">
                        <a:buNone/>
                      </a:pPr>
                      <a:r>
                        <a:rPr lang="en-US" sz="950" b="1" dirty="0">
                          <a:solidFill>
                            <a:srgbClr val="0D5528"/>
                          </a:solidFill>
                          <a:latin typeface="Calibri" pitchFamily="34" charset="0"/>
                          <a:ea typeface="Calibri" pitchFamily="34" charset="-122"/>
                          <a:cs typeface="Calibri" pitchFamily="34" charset="-120"/>
                        </a:rPr>
                        <a:t>Unproven at scale — see roadmap</a:t>
                      </a:r>
                      <a:endParaRPr lang="en-US" sz="950" dirty="0">
                        <a:latin typeface="Calibri" charset="0"/>
                        <a:ea typeface="Calibri" charset="0"/>
                        <a:cs typeface="Calibri" charset="0"/>
                      </a:endParaRPr>
                    </a:p>
                  </a:txBody>
                  <a:tcPr marL="63500" marR="63500" marT="63500" marB="635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E6F2E7"/>
                    </a:solidFill>
                  </a:tcPr>
                </a:tc>
              </a:tr>
            </a:tbl>
          </a:graphicData>
        </a:graphic>
      </p:graphicFrame>
      <p:sp>
        <p:nvSpPr>
          <p:cNvPr id="6" name="Text 3"/>
          <p:cNvSpPr txBox="1"/>
          <p:nvPr/>
        </p:nvSpPr>
        <p:spPr>
          <a:xfrm>
            <a:off x="658368" y="6172200"/>
            <a:ext cx="10874959" cy="365760"/>
          </a:xfrm>
          <a:prstGeom prst="rect">
            <a:avLst/>
          </a:prstGeom>
          <a:noFill/>
          <a:ln/>
        </p:spPr>
        <p:txBody>
          <a:bodyPr wrap="square" lIns="0" tIns="0" rIns="0" bIns="0" rtlCol="0" anchor="ctr"/>
          <a:lstStyle/>
          <a:p>
            <a:pPr indent="0" marL="0">
              <a:buNone/>
            </a:pPr>
            <a:r>
              <a:rPr lang="en-US" sz="950" dirty="0">
                <a:solidFill>
                  <a:srgbClr val="64786A"/>
                </a:solidFill>
                <a:latin typeface="Calibri" pitchFamily="34" charset="0"/>
                <a:ea typeface="Calibri" pitchFamily="34" charset="-122"/>
                <a:cs typeface="Calibri" pitchFamily="34" charset="-120"/>
              </a:rPr>
              <a:t>Indian agritech raised $241M across 60 rounds in 2025; the market is projected to grow from $974M (2025) to $2.52B by 2034.</a:t>
            </a:r>
            <a:endParaRPr lang="en-US" sz="950" dirty="0"/>
          </a:p>
        </p:txBody>
      </p:sp>
      <p:sp>
        <p:nvSpPr>
          <p:cNvPr id="7" name="Text 4"/>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6EFE1"/>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ARCHITECTURE</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Google AI, load-bearing.</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Each service below has a caller and a user-reachable code path. Where credentials are absent the feature degrades to a labelled fallback — it is never faked to pad a list.</a:t>
            </a:r>
            <a:endParaRPr lang="en-US" sz="1400" dirty="0"/>
          </a:p>
        </p:txBody>
      </p:sp>
      <p:sp>
        <p:nvSpPr>
          <p:cNvPr id="5" name="Shape 3"/>
          <p:cNvSpPr/>
          <p:nvPr/>
        </p:nvSpPr>
        <p:spPr>
          <a:xfrm>
            <a:off x="658368" y="2651760"/>
            <a:ext cx="3472586" cy="1481328"/>
          </a:xfrm>
          <a:prstGeom prst="roundRect">
            <a:avLst>
              <a:gd name="adj" fmla="val 3704"/>
            </a:avLst>
          </a:prstGeom>
          <a:solidFill>
            <a:srgbClr val="FFFFFF"/>
          </a:solidFill>
          <a:ln w="9525">
            <a:solidFill>
              <a:srgbClr val="CFE0C8"/>
            </a:solidFill>
            <a:prstDash val="solid"/>
          </a:ln>
        </p:spPr>
      </p:sp>
      <p:sp>
        <p:nvSpPr>
          <p:cNvPr id="6" name="Text 4"/>
          <p:cNvSpPr txBox="1"/>
          <p:nvPr/>
        </p:nvSpPr>
        <p:spPr>
          <a:xfrm>
            <a:off x="841248" y="2816352"/>
            <a:ext cx="3106826" cy="201168"/>
          </a:xfrm>
          <a:prstGeom prst="rect">
            <a:avLst/>
          </a:prstGeom>
          <a:noFill/>
          <a:ln/>
        </p:spPr>
        <p:txBody>
          <a:bodyPr wrap="square" lIns="0" tIns="0" rIns="0" bIns="0" rtlCol="0" anchor="ctr"/>
          <a:lstStyle/>
          <a:p>
            <a:pPr indent="0" marL="0">
              <a:buNone/>
            </a:pPr>
            <a:r>
              <a:rPr lang="en-US" sz="850" b="1" spc="120" kern="0" dirty="0">
                <a:solidFill>
                  <a:srgbClr val="0D5528"/>
                </a:solidFill>
                <a:latin typeface="Calibri" pitchFamily="34" charset="0"/>
                <a:ea typeface="Calibri" pitchFamily="34" charset="-122"/>
                <a:cs typeface="Calibri" pitchFamily="34" charset="-120"/>
              </a:rPr>
              <a:t>REASONING</a:t>
            </a:r>
            <a:endParaRPr lang="en-US" sz="850" dirty="0"/>
          </a:p>
        </p:txBody>
      </p:sp>
      <p:sp>
        <p:nvSpPr>
          <p:cNvPr id="7" name="Text 5"/>
          <p:cNvSpPr txBox="1"/>
          <p:nvPr/>
        </p:nvSpPr>
        <p:spPr>
          <a:xfrm>
            <a:off x="841248" y="3072384"/>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Gemini API · Vertex AI</a:t>
            </a:r>
            <a:endParaRPr lang="en-US" sz="1250" dirty="0"/>
          </a:p>
        </p:txBody>
      </p:sp>
      <p:sp>
        <p:nvSpPr>
          <p:cNvPr id="8" name="Text 6"/>
          <p:cNvSpPr txBox="1"/>
          <p:nvPr/>
        </p:nvSpPr>
        <p:spPr>
          <a:xfrm>
            <a:off x="841248" y="3474720"/>
            <a:ext cx="3106826" cy="530352"/>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Advisory, assistant, district interventions, crop-ranking explanations. Structured output, and a system instruction forbidding invented measurements.</a:t>
            </a:r>
            <a:endParaRPr lang="en-US" sz="1000" dirty="0"/>
          </a:p>
        </p:txBody>
      </p:sp>
      <p:sp>
        <p:nvSpPr>
          <p:cNvPr id="9" name="Shape 7"/>
          <p:cNvSpPr/>
          <p:nvPr/>
        </p:nvSpPr>
        <p:spPr>
          <a:xfrm>
            <a:off x="4359554" y="2651760"/>
            <a:ext cx="3472586" cy="1481328"/>
          </a:xfrm>
          <a:prstGeom prst="roundRect">
            <a:avLst>
              <a:gd name="adj" fmla="val 3704"/>
            </a:avLst>
          </a:prstGeom>
          <a:solidFill>
            <a:srgbClr val="FFFFFF"/>
          </a:solidFill>
          <a:ln w="9525">
            <a:solidFill>
              <a:srgbClr val="CFE0C8"/>
            </a:solidFill>
            <a:prstDash val="solid"/>
          </a:ln>
        </p:spPr>
      </p:sp>
      <p:sp>
        <p:nvSpPr>
          <p:cNvPr id="10" name="Text 8"/>
          <p:cNvSpPr txBox="1"/>
          <p:nvPr/>
        </p:nvSpPr>
        <p:spPr>
          <a:xfrm>
            <a:off x="4542434" y="2816352"/>
            <a:ext cx="3106826" cy="201168"/>
          </a:xfrm>
          <a:prstGeom prst="rect">
            <a:avLst/>
          </a:prstGeom>
          <a:noFill/>
          <a:ln/>
        </p:spPr>
        <p:txBody>
          <a:bodyPr wrap="square" lIns="0" tIns="0" rIns="0" bIns="0" rtlCol="0" anchor="ctr"/>
          <a:lstStyle/>
          <a:p>
            <a:pPr indent="0" marL="0">
              <a:buNone/>
            </a:pPr>
            <a:r>
              <a:rPr lang="en-US" sz="850" b="1" spc="120" kern="0" dirty="0">
                <a:solidFill>
                  <a:srgbClr val="0D5528"/>
                </a:solidFill>
                <a:latin typeface="Calibri" pitchFamily="34" charset="0"/>
                <a:ea typeface="Calibri" pitchFamily="34" charset="-122"/>
                <a:cs typeface="Calibri" pitchFamily="34" charset="-120"/>
              </a:rPr>
              <a:t>VISION</a:t>
            </a:r>
            <a:endParaRPr lang="en-US" sz="850" dirty="0"/>
          </a:p>
        </p:txBody>
      </p:sp>
      <p:sp>
        <p:nvSpPr>
          <p:cNvPr id="11" name="Text 9"/>
          <p:cNvSpPr txBox="1"/>
          <p:nvPr/>
        </p:nvSpPr>
        <p:spPr>
          <a:xfrm>
            <a:off x="4542434" y="3072384"/>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Gemini multimodal</a:t>
            </a:r>
            <a:endParaRPr lang="en-US" sz="1250" dirty="0"/>
          </a:p>
        </p:txBody>
      </p:sp>
      <p:sp>
        <p:nvSpPr>
          <p:cNvPr id="12" name="Text 10"/>
          <p:cNvSpPr txBox="1"/>
          <p:nvPr/>
        </p:nvSpPr>
        <p:spPr>
          <a:xfrm>
            <a:off x="4542434" y="3474720"/>
            <a:ext cx="3106826" cy="530352"/>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Second opinion whenever the local classifier falls below 0.70 — which is every crop outside its 14 trained ones.</a:t>
            </a:r>
            <a:endParaRPr lang="en-US" sz="1000" dirty="0"/>
          </a:p>
        </p:txBody>
      </p:sp>
      <p:sp>
        <p:nvSpPr>
          <p:cNvPr id="13" name="Shape 11"/>
          <p:cNvSpPr/>
          <p:nvPr/>
        </p:nvSpPr>
        <p:spPr>
          <a:xfrm>
            <a:off x="8060741" y="2651760"/>
            <a:ext cx="3472586" cy="1481328"/>
          </a:xfrm>
          <a:prstGeom prst="roundRect">
            <a:avLst>
              <a:gd name="adj" fmla="val 3704"/>
            </a:avLst>
          </a:prstGeom>
          <a:solidFill>
            <a:srgbClr val="FFFFFF"/>
          </a:solidFill>
          <a:ln w="9525">
            <a:solidFill>
              <a:srgbClr val="CFE0C8"/>
            </a:solidFill>
            <a:prstDash val="solid"/>
          </a:ln>
        </p:spPr>
      </p:sp>
      <p:sp>
        <p:nvSpPr>
          <p:cNvPr id="14" name="Text 12"/>
          <p:cNvSpPr txBox="1"/>
          <p:nvPr/>
        </p:nvSpPr>
        <p:spPr>
          <a:xfrm>
            <a:off x="8243621" y="2816352"/>
            <a:ext cx="3106826" cy="201168"/>
          </a:xfrm>
          <a:prstGeom prst="rect">
            <a:avLst/>
          </a:prstGeom>
          <a:noFill/>
          <a:ln/>
        </p:spPr>
        <p:txBody>
          <a:bodyPr wrap="square" lIns="0" tIns="0" rIns="0" bIns="0" rtlCol="0" anchor="ctr"/>
          <a:lstStyle/>
          <a:p>
            <a:pPr indent="0" marL="0">
              <a:buNone/>
            </a:pPr>
            <a:r>
              <a:rPr lang="en-US" sz="850" b="1" spc="120" kern="0" dirty="0">
                <a:solidFill>
                  <a:srgbClr val="0D5528"/>
                </a:solidFill>
                <a:latin typeface="Calibri" pitchFamily="34" charset="0"/>
                <a:ea typeface="Calibri" pitchFamily="34" charset="-122"/>
                <a:cs typeface="Calibri" pitchFamily="34" charset="-120"/>
              </a:rPr>
              <a:t>GEOSPATIAL</a:t>
            </a:r>
            <a:endParaRPr lang="en-US" sz="850" dirty="0"/>
          </a:p>
        </p:txBody>
      </p:sp>
      <p:sp>
        <p:nvSpPr>
          <p:cNvPr id="15" name="Text 13"/>
          <p:cNvSpPr txBox="1"/>
          <p:nvPr/>
        </p:nvSpPr>
        <p:spPr>
          <a:xfrm>
            <a:off x="8243621" y="3072384"/>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Earth Engine · Maps</a:t>
            </a:r>
            <a:endParaRPr lang="en-US" sz="1250" dirty="0"/>
          </a:p>
        </p:txBody>
      </p:sp>
      <p:sp>
        <p:nvSpPr>
          <p:cNvPr id="16" name="Text 14"/>
          <p:cNvSpPr txBox="1"/>
          <p:nvPr/>
        </p:nvSpPr>
        <p:spPr>
          <a:xfrm>
            <a:off x="8243621" y="3474720"/>
            <a:ext cx="3106826" cy="530352"/>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Sentinel-2 NDVI reduced over a 150 m buffer, cloud-filtered to 30%. Maps renders the district risk layer.</a:t>
            </a:r>
            <a:endParaRPr lang="en-US" sz="1000" dirty="0"/>
          </a:p>
        </p:txBody>
      </p:sp>
      <p:sp>
        <p:nvSpPr>
          <p:cNvPr id="17" name="Shape 15"/>
          <p:cNvSpPr/>
          <p:nvPr/>
        </p:nvSpPr>
        <p:spPr>
          <a:xfrm>
            <a:off x="658368" y="4370832"/>
            <a:ext cx="3472586" cy="1481328"/>
          </a:xfrm>
          <a:prstGeom prst="roundRect">
            <a:avLst>
              <a:gd name="adj" fmla="val 3704"/>
            </a:avLst>
          </a:prstGeom>
          <a:solidFill>
            <a:srgbClr val="FFFFFF"/>
          </a:solidFill>
          <a:ln w="9525">
            <a:solidFill>
              <a:srgbClr val="CFE0C8"/>
            </a:solidFill>
            <a:prstDash val="solid"/>
          </a:ln>
        </p:spPr>
      </p:sp>
      <p:sp>
        <p:nvSpPr>
          <p:cNvPr id="18" name="Text 16"/>
          <p:cNvSpPr txBox="1"/>
          <p:nvPr/>
        </p:nvSpPr>
        <p:spPr>
          <a:xfrm>
            <a:off x="841248" y="4535424"/>
            <a:ext cx="3106826" cy="201168"/>
          </a:xfrm>
          <a:prstGeom prst="rect">
            <a:avLst/>
          </a:prstGeom>
          <a:noFill/>
          <a:ln/>
        </p:spPr>
        <p:txBody>
          <a:bodyPr wrap="square" lIns="0" tIns="0" rIns="0" bIns="0" rtlCol="0" anchor="ctr"/>
          <a:lstStyle/>
          <a:p>
            <a:pPr indent="0" marL="0">
              <a:buNone/>
            </a:pPr>
            <a:r>
              <a:rPr lang="en-US" sz="850" b="1" spc="120" kern="0" dirty="0">
                <a:solidFill>
                  <a:srgbClr val="0D5528"/>
                </a:solidFill>
                <a:latin typeface="Calibri" pitchFamily="34" charset="0"/>
                <a:ea typeface="Calibri" pitchFamily="34" charset="-122"/>
                <a:cs typeface="Calibri" pitchFamily="34" charset="-120"/>
              </a:rPr>
              <a:t>LANGUAGE</a:t>
            </a:r>
            <a:endParaRPr lang="en-US" sz="850" dirty="0"/>
          </a:p>
        </p:txBody>
      </p:sp>
      <p:sp>
        <p:nvSpPr>
          <p:cNvPr id="19" name="Text 17"/>
          <p:cNvSpPr txBox="1"/>
          <p:nvPr/>
        </p:nvSpPr>
        <p:spPr>
          <a:xfrm>
            <a:off x="841248" y="4791456"/>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Speech &amp; Translation</a:t>
            </a:r>
            <a:endParaRPr lang="en-US" sz="1250" dirty="0"/>
          </a:p>
        </p:txBody>
      </p:sp>
      <p:sp>
        <p:nvSpPr>
          <p:cNvPr id="20" name="Text 18"/>
          <p:cNvSpPr txBox="1"/>
          <p:nvPr/>
        </p:nvSpPr>
        <p:spPr>
          <a:xfrm>
            <a:off x="841248" y="5193792"/>
            <a:ext cx="3106826" cy="530352"/>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Cloud Speech-to-Text and Text-to-Speech for browsers with no Web Speech API. Translation localises the scheme directory.</a:t>
            </a:r>
            <a:endParaRPr lang="en-US" sz="1000" dirty="0"/>
          </a:p>
        </p:txBody>
      </p:sp>
      <p:sp>
        <p:nvSpPr>
          <p:cNvPr id="21" name="Shape 19"/>
          <p:cNvSpPr/>
          <p:nvPr/>
        </p:nvSpPr>
        <p:spPr>
          <a:xfrm>
            <a:off x="4359554" y="4370832"/>
            <a:ext cx="3472586" cy="1481328"/>
          </a:xfrm>
          <a:prstGeom prst="roundRect">
            <a:avLst>
              <a:gd name="adj" fmla="val 3704"/>
            </a:avLst>
          </a:prstGeom>
          <a:solidFill>
            <a:srgbClr val="FFFFFF"/>
          </a:solidFill>
          <a:ln w="9525">
            <a:solidFill>
              <a:srgbClr val="CFE0C8"/>
            </a:solidFill>
            <a:prstDash val="solid"/>
          </a:ln>
        </p:spPr>
      </p:sp>
      <p:sp>
        <p:nvSpPr>
          <p:cNvPr id="22" name="Text 20"/>
          <p:cNvSpPr txBox="1"/>
          <p:nvPr/>
        </p:nvSpPr>
        <p:spPr>
          <a:xfrm>
            <a:off x="4542434" y="4535424"/>
            <a:ext cx="3106826" cy="201168"/>
          </a:xfrm>
          <a:prstGeom prst="rect">
            <a:avLst/>
          </a:prstGeom>
          <a:noFill/>
          <a:ln/>
        </p:spPr>
        <p:txBody>
          <a:bodyPr wrap="square" lIns="0" tIns="0" rIns="0" bIns="0" rtlCol="0" anchor="ctr"/>
          <a:lstStyle/>
          <a:p>
            <a:pPr indent="0" marL="0">
              <a:buNone/>
            </a:pPr>
            <a:r>
              <a:rPr lang="en-US" sz="850" b="1" spc="120" kern="0" dirty="0">
                <a:solidFill>
                  <a:srgbClr val="0D5528"/>
                </a:solidFill>
                <a:latin typeface="Calibri" pitchFamily="34" charset="0"/>
                <a:ea typeface="Calibri" pitchFamily="34" charset="-122"/>
                <a:cs typeface="Calibri" pitchFamily="34" charset="-120"/>
              </a:rPr>
              <a:t>DATA</a:t>
            </a:r>
            <a:endParaRPr lang="en-US" sz="850" dirty="0"/>
          </a:p>
        </p:txBody>
      </p:sp>
      <p:sp>
        <p:nvSpPr>
          <p:cNvPr id="23" name="Text 21"/>
          <p:cNvSpPr txBox="1"/>
          <p:nvPr/>
        </p:nvSpPr>
        <p:spPr>
          <a:xfrm>
            <a:off x="4542434" y="4791456"/>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BigQuery · Cloud Storage</a:t>
            </a:r>
            <a:endParaRPr lang="en-US" sz="1250" dirty="0"/>
          </a:p>
        </p:txBody>
      </p:sp>
      <p:sp>
        <p:nvSpPr>
          <p:cNvPr id="24" name="Text 22"/>
          <p:cNvSpPr txBox="1"/>
          <p:nvPr/>
        </p:nvSpPr>
        <p:spPr>
          <a:xfrm>
            <a:off x="4542434" y="5193792"/>
            <a:ext cx="3106826" cy="530352"/>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Every computed risk is appended to a warehouse time series. Leaf photos retained as the evidence behind a diagnosis.</a:t>
            </a:r>
            <a:endParaRPr lang="en-US" sz="1000" dirty="0"/>
          </a:p>
        </p:txBody>
      </p:sp>
      <p:sp>
        <p:nvSpPr>
          <p:cNvPr id="25" name="Shape 23"/>
          <p:cNvSpPr/>
          <p:nvPr/>
        </p:nvSpPr>
        <p:spPr>
          <a:xfrm>
            <a:off x="8060741" y="4370832"/>
            <a:ext cx="3472586" cy="1481328"/>
          </a:xfrm>
          <a:prstGeom prst="roundRect">
            <a:avLst>
              <a:gd name="adj" fmla="val 3704"/>
            </a:avLst>
          </a:prstGeom>
          <a:solidFill>
            <a:srgbClr val="FFFFFF"/>
          </a:solidFill>
          <a:ln w="9525">
            <a:solidFill>
              <a:srgbClr val="CFE0C8"/>
            </a:solidFill>
            <a:prstDash val="solid"/>
          </a:ln>
        </p:spPr>
      </p:sp>
      <p:sp>
        <p:nvSpPr>
          <p:cNvPr id="26" name="Text 24"/>
          <p:cNvSpPr txBox="1"/>
          <p:nvPr/>
        </p:nvSpPr>
        <p:spPr>
          <a:xfrm>
            <a:off x="8243621" y="4535424"/>
            <a:ext cx="3106826" cy="201168"/>
          </a:xfrm>
          <a:prstGeom prst="rect">
            <a:avLst/>
          </a:prstGeom>
          <a:noFill/>
          <a:ln/>
        </p:spPr>
        <p:txBody>
          <a:bodyPr wrap="square" lIns="0" tIns="0" rIns="0" bIns="0" rtlCol="0" anchor="ctr"/>
          <a:lstStyle/>
          <a:p>
            <a:pPr indent="0" marL="0">
              <a:buNone/>
            </a:pPr>
            <a:r>
              <a:rPr lang="en-US" sz="850" b="1" spc="120" kern="0" dirty="0">
                <a:solidFill>
                  <a:srgbClr val="0D5528"/>
                </a:solidFill>
                <a:latin typeface="Calibri" pitchFamily="34" charset="0"/>
                <a:ea typeface="Calibri" pitchFamily="34" charset="-122"/>
                <a:cs typeface="Calibri" pitchFamily="34" charset="-120"/>
              </a:rPr>
              <a:t>PLATFORM</a:t>
            </a:r>
            <a:endParaRPr lang="en-US" sz="850" dirty="0"/>
          </a:p>
        </p:txBody>
      </p:sp>
      <p:sp>
        <p:nvSpPr>
          <p:cNvPr id="27" name="Text 25"/>
          <p:cNvSpPr txBox="1"/>
          <p:nvPr/>
        </p:nvSpPr>
        <p:spPr>
          <a:xfrm>
            <a:off x="8243621" y="4791456"/>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Cloud Run · Secret Manager</a:t>
            </a:r>
            <a:endParaRPr lang="en-US" sz="1250" dirty="0"/>
          </a:p>
        </p:txBody>
      </p:sp>
      <p:sp>
        <p:nvSpPr>
          <p:cNvPr id="28" name="Text 26"/>
          <p:cNvSpPr txBox="1"/>
          <p:nvPr/>
        </p:nvSpPr>
        <p:spPr>
          <a:xfrm>
            <a:off x="8243621" y="5193792"/>
            <a:ext cx="3106826" cy="530352"/>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Three services, non-root images, health checks. Pub/Sub fans out NDVI refresh; Redis caches weather and satellite reads.</a:t>
            </a:r>
            <a:endParaRPr lang="en-US" sz="1000" dirty="0"/>
          </a:p>
        </p:txBody>
      </p:sp>
      <p:sp>
        <p:nvSpPr>
          <p:cNvPr id="29" name="Text 27"/>
          <p:cNvSpPr txBox="1"/>
          <p:nvPr/>
        </p:nvSpPr>
        <p:spPr>
          <a:xfrm>
            <a:off x="658368" y="6172200"/>
            <a:ext cx="10874959" cy="365760"/>
          </a:xfrm>
          <a:prstGeom prst="rect">
            <a:avLst/>
          </a:prstGeom>
          <a:noFill/>
          <a:ln/>
        </p:spPr>
        <p:txBody>
          <a:bodyPr wrap="square" lIns="0" tIns="0" rIns="0" bIns="0" rtlCol="0" anchor="ctr"/>
          <a:lstStyle/>
          <a:p>
            <a:pPr indent="0" marL="0">
              <a:buNone/>
            </a:pPr>
            <a:r>
              <a:rPr lang="en-US" sz="950" dirty="0">
                <a:solidFill>
                  <a:srgbClr val="64786A"/>
                </a:solidFill>
                <a:latin typeface="Calibri" pitchFamily="34" charset="0"/>
                <a:ea typeface="Calibri" pitchFamily="34" charset="-122"/>
                <a:cs typeface="Calibri" pitchFamily="34" charset="-120"/>
              </a:rPr>
              <a:t>Public data: data.gov.in Agmarknet mandi prices · Open-Meteo forecast and historical archive · OpenStreetMap reverse geocoding · Sentinel-2 via Earth Engine.</a:t>
            </a:r>
            <a:endParaRPr lang="en-US" sz="950" dirty="0"/>
          </a:p>
        </p:txBody>
      </p:sp>
      <p:sp>
        <p:nvSpPr>
          <p:cNvPr id="30" name="Text 28"/>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7EF"/>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THE THESIS</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A crop dataset is a public good. Ship it as one.</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The challenge asks for an interoperable network that lets Indian states share agricultural data models. Two things in this system already are portable models — they simply need publishing as such.</a:t>
            </a:r>
            <a:endParaRPr lang="en-US" sz="1400" dirty="0"/>
          </a:p>
        </p:txBody>
      </p:sp>
      <p:sp>
        <p:nvSpPr>
          <p:cNvPr id="5" name="Text 3"/>
          <p:cNvSpPr txBox="1"/>
          <p:nvPr/>
        </p:nvSpPr>
        <p:spPr>
          <a:xfrm>
            <a:off x="658368" y="2788920"/>
            <a:ext cx="5654979" cy="1188720"/>
          </a:xfrm>
          <a:prstGeom prst="rect">
            <a:avLst/>
          </a:prstGeom>
          <a:noFill/>
          <a:ln/>
        </p:spPr>
        <p:txBody>
          <a:bodyPr wrap="square" lIns="0" tIns="0" rIns="0" bIns="0" rtlCol="0" anchor="t"/>
          <a:lstStyle/>
          <a:p>
            <a:pPr indent="0" marL="0">
              <a:lnSpc>
                <a:spcPct val="125000"/>
              </a:lnSpc>
              <a:spcAft>
                <a:spcPts val="600"/>
              </a:spcAft>
              <a:buNone/>
            </a:pPr>
            <a:r>
              <a:rPr lang="en-US" sz="1150" dirty="0">
                <a:solidFill>
                  <a:srgbClr val="425446"/>
                </a:solidFill>
                <a:latin typeface="Calibri" pitchFamily="34" charset="0"/>
                <a:ea typeface="Calibri" pitchFamily="34" charset="-122"/>
                <a:cs typeface="Calibri" pitchFamily="34" charset="-120"/>
              </a:rPr>
              <a:t>—  The crop dataset — ten crops with season, soil, water, temperature and rainfall envelopes.</a:t>
            </a:r>
            <a:endParaRPr lang="en-US" sz="1150" dirty="0"/>
          </a:p>
          <a:p>
            <a:pPr indent="0" marL="0">
              <a:lnSpc>
                <a:spcPct val="125000"/>
              </a:lnSpc>
              <a:spcAft>
                <a:spcPts val="600"/>
              </a:spcAft>
              <a:buNone/>
            </a:pPr>
            <a:r>
              <a:rPr lang="en-US" sz="1150" dirty="0">
                <a:solidFill>
                  <a:srgbClr val="425446"/>
                </a:solidFill>
                <a:latin typeface="Calibri" pitchFamily="34" charset="0"/>
                <a:ea typeface="Calibri" pitchFamily="34" charset="-122"/>
                <a:cs typeface="Calibri" pitchFamily="34" charset="-120"/>
              </a:rPr>
              <a:t>—  The risk model — five named weights, four bands, and the rules for dropping a factor with no evidence.</a:t>
            </a:r>
            <a:endParaRPr lang="en-US" sz="1150" dirty="0"/>
          </a:p>
        </p:txBody>
      </p:sp>
      <p:sp>
        <p:nvSpPr>
          <p:cNvPr id="6" name="Text 4"/>
          <p:cNvSpPr txBox="1"/>
          <p:nvPr/>
        </p:nvSpPr>
        <p:spPr>
          <a:xfrm>
            <a:off x="658368" y="4206240"/>
            <a:ext cx="5654979" cy="914400"/>
          </a:xfrm>
          <a:prstGeom prst="rect">
            <a:avLst/>
          </a:prstGeom>
          <a:noFill/>
          <a:ln/>
        </p:spPr>
        <p:txBody>
          <a:bodyPr wrap="square" lIns="0" tIns="0" rIns="0" bIns="0" rtlCol="0" anchor="t"/>
          <a:lstStyle/>
          <a:p>
            <a:pPr indent="0" marL="0">
              <a:lnSpc>
                <a:spcPct val="120000"/>
              </a:lnSpc>
              <a:buNone/>
            </a:pPr>
            <a:r>
              <a:rPr lang="en-US" sz="1150" dirty="0">
                <a:solidFill>
                  <a:srgbClr val="425446"/>
                </a:solidFill>
                <a:latin typeface="Calibri" pitchFamily="34" charset="0"/>
                <a:ea typeface="Calibri" pitchFamily="34" charset="-122"/>
                <a:cs typeface="Calibri" pitchFamily="34" charset="-120"/>
              </a:rPr>
              <a:t>Published as versioned JSON Schema behind a federation API, Rajasthan's crop model becomes something Maharashtra can adopt, critique or replace — without a bilateral integration.</a:t>
            </a:r>
            <a:endParaRPr lang="en-US" sz="1150" dirty="0"/>
          </a:p>
        </p:txBody>
      </p:sp>
      <p:sp>
        <p:nvSpPr>
          <p:cNvPr id="7" name="Shape 5"/>
          <p:cNvSpPr/>
          <p:nvPr/>
        </p:nvSpPr>
        <p:spPr>
          <a:xfrm>
            <a:off x="6949440" y="2697480"/>
            <a:ext cx="4572000" cy="2743200"/>
          </a:xfrm>
          <a:prstGeom prst="roundRect">
            <a:avLst>
              <a:gd name="adj" fmla="val 2000"/>
            </a:avLst>
          </a:prstGeom>
          <a:solidFill>
            <a:srgbClr val="FFFFFF"/>
          </a:solidFill>
          <a:ln w="12700">
            <a:solidFill>
              <a:srgbClr val="157F3D"/>
            </a:solidFill>
            <a:prstDash val="solid"/>
          </a:ln>
        </p:spPr>
      </p:sp>
      <p:sp>
        <p:nvSpPr>
          <p:cNvPr id="8" name="Text 6"/>
          <p:cNvSpPr txBox="1"/>
          <p:nvPr/>
        </p:nvSpPr>
        <p:spPr>
          <a:xfrm>
            <a:off x="7178040" y="2880360"/>
            <a:ext cx="4114800" cy="228600"/>
          </a:xfrm>
          <a:prstGeom prst="rect">
            <a:avLst/>
          </a:prstGeom>
          <a:noFill/>
          <a:ln/>
        </p:spPr>
        <p:txBody>
          <a:bodyPr wrap="square" lIns="0" tIns="0" rIns="0" bIns="0" rtlCol="0" anchor="ctr"/>
          <a:lstStyle/>
          <a:p>
            <a:pPr indent="0" marL="0">
              <a:buNone/>
            </a:pPr>
            <a:r>
              <a:rPr lang="en-US" sz="850" b="1" spc="120" kern="0" dirty="0">
                <a:solidFill>
                  <a:srgbClr val="0D5528"/>
                </a:solidFill>
                <a:latin typeface="Calibri" pitchFamily="34" charset="0"/>
                <a:ea typeface="Calibri" pitchFamily="34" charset="-122"/>
                <a:cs typeface="Calibri" pitchFamily="34" charset="-120"/>
              </a:rPr>
              <a:t>FEDERATION, PRIVACY FIRST</a:t>
            </a:r>
            <a:endParaRPr lang="en-US" sz="850" dirty="0"/>
          </a:p>
        </p:txBody>
      </p:sp>
      <p:sp>
        <p:nvSpPr>
          <p:cNvPr id="9" name="Text 7"/>
          <p:cNvSpPr txBox="1"/>
          <p:nvPr/>
        </p:nvSpPr>
        <p:spPr>
          <a:xfrm>
            <a:off x="7178040" y="3200400"/>
            <a:ext cx="4114800" cy="2103120"/>
          </a:xfrm>
          <a:prstGeom prst="rect">
            <a:avLst/>
          </a:prstGeom>
          <a:noFill/>
          <a:ln/>
        </p:spPr>
        <p:txBody>
          <a:bodyPr wrap="square" lIns="0" tIns="0" rIns="0" bIns="0" rtlCol="0" anchor="t"/>
          <a:lstStyle/>
          <a:p>
            <a:pPr indent="0" marL="0">
              <a:lnSpc>
                <a:spcPct val="125000"/>
              </a:lnSpc>
              <a:spcAft>
                <a:spcPts val="600"/>
              </a:spcAft>
              <a:buNone/>
            </a:pPr>
            <a:r>
              <a:rPr lang="en-US" sz="950" dirty="0">
                <a:solidFill>
                  <a:srgbClr val="425446"/>
                </a:solidFill>
                <a:latin typeface="Calibri" pitchFamily="34" charset="0"/>
                <a:ea typeface="Calibri" pitchFamily="34" charset="-122"/>
                <a:cs typeface="Calibri" pitchFamily="34" charset="-120"/>
              </a:rPr>
              <a:t>—  Aggregates only. No farm record, no farmer record, no coordinate finer than a district centroid.</a:t>
            </a:r>
            <a:endParaRPr lang="en-US" sz="950" dirty="0"/>
          </a:p>
          <a:p>
            <a:pPr indent="0" marL="0">
              <a:lnSpc>
                <a:spcPct val="125000"/>
              </a:lnSpc>
              <a:spcAft>
                <a:spcPts val="600"/>
              </a:spcAft>
              <a:buNone/>
            </a:pPr>
            <a:r>
              <a:rPr lang="en-US" sz="950" dirty="0">
                <a:solidFill>
                  <a:srgbClr val="425446"/>
                </a:solidFill>
                <a:latin typeface="Calibri" pitchFamily="34" charset="0"/>
                <a:ea typeface="Calibri" pitchFamily="34" charset="-122"/>
                <a:cs typeface="Calibri" pitchFamily="34" charset="-120"/>
              </a:rPr>
              <a:t>—  A k-anonymity floor. A district with fewer than ten farms is omitted — “1 farm, CRITICAL, Wheat” identifies a person.</a:t>
            </a:r>
            <a:endParaRPr lang="en-US" sz="950" dirty="0"/>
          </a:p>
          <a:p>
            <a:pPr indent="0" marL="0">
              <a:lnSpc>
                <a:spcPct val="125000"/>
              </a:lnSpc>
              <a:spcAft>
                <a:spcPts val="600"/>
              </a:spcAft>
              <a:buNone/>
            </a:pPr>
            <a:r>
              <a:rPr lang="en-US" sz="950" dirty="0">
                <a:solidFill>
                  <a:srgbClr val="425446"/>
                </a:solidFill>
                <a:latin typeface="Calibri" pitchFamily="34" charset="0"/>
                <a:ea typeface="Calibri" pitchFamily="34" charset="-122"/>
                <a:cs typeface="Calibri" pitchFamily="34" charset="-120"/>
              </a:rPr>
              <a:t>—  Signed manifests, so a hostile node cannot poison another state's dashboard.</a:t>
            </a:r>
            <a:endParaRPr lang="en-US" sz="950" dirty="0"/>
          </a:p>
          <a:p>
            <a:pPr indent="0" marL="0">
              <a:lnSpc>
                <a:spcPct val="125000"/>
              </a:lnSpc>
              <a:spcAft>
                <a:spcPts val="600"/>
              </a:spcAft>
              <a:buNone/>
            </a:pPr>
            <a:r>
              <a:rPr lang="en-US" sz="950" dirty="0">
                <a:solidFill>
                  <a:srgbClr val="425446"/>
                </a:solidFill>
                <a:latin typeface="Calibri" pitchFamily="34" charset="0"/>
                <a:ea typeface="Calibri" pitchFamily="34" charset="-122"/>
                <a:cs typeface="Calibri" pitchFamily="34" charset="-120"/>
              </a:rPr>
              <a:t>—  Enforced by test, not by policy prose.</a:t>
            </a:r>
            <a:endParaRPr lang="en-US" sz="950" dirty="0"/>
          </a:p>
        </p:txBody>
      </p:sp>
      <p:sp>
        <p:nvSpPr>
          <p:cNvPr id="10" name="Text 8"/>
          <p:cNvSpPr txBox="1"/>
          <p:nvPr/>
        </p:nvSpPr>
        <p:spPr>
          <a:xfrm>
            <a:off x="6949440" y="5623560"/>
            <a:ext cx="4572000" cy="548640"/>
          </a:xfrm>
          <a:prstGeom prst="rect">
            <a:avLst/>
          </a:prstGeom>
          <a:noFill/>
          <a:ln/>
        </p:spPr>
        <p:txBody>
          <a:bodyPr wrap="square" lIns="0" tIns="0" rIns="0" bIns="0" rtlCol="0" anchor="t"/>
          <a:lstStyle/>
          <a:p>
            <a:pPr indent="0" marL="0">
              <a:buNone/>
            </a:pPr>
            <a:r>
              <a:rPr lang="en-US" sz="950" dirty="0">
                <a:solidFill>
                  <a:srgbClr val="64786A"/>
                </a:solidFill>
                <a:latin typeface="Calibri" pitchFamily="34" charset="0"/>
                <a:ea typeface="Calibri" pitchFamily="34" charset="-122"/>
                <a:cs typeface="Calibri" pitchFamily="34" charset="-120"/>
              </a:rPr>
              <a:t>Open licence · open standard · documented · no PII · platform independent — the five Digital Public Good criteria, each mapped to where the code satisfies it.</a:t>
            </a:r>
            <a:endParaRPr lang="en-US" sz="950" dirty="0"/>
          </a:p>
        </p:txBody>
      </p:sp>
      <p:sp>
        <p:nvSpPr>
          <p:cNvPr id="11" name="Text 9"/>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7EF"/>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STATUS · BUILT AND RUNNING</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Working software, not slideware.</a:t>
            </a:r>
            <a:endParaRPr lang="en-US" sz="3000" dirty="0"/>
          </a:p>
        </p:txBody>
      </p:sp>
      <p:sp>
        <p:nvSpPr>
          <p:cNvPr id="4" name="Shape 2"/>
          <p:cNvSpPr/>
          <p:nvPr/>
        </p:nvSpPr>
        <p:spPr>
          <a:xfrm>
            <a:off x="658368" y="1965960"/>
            <a:ext cx="32004" cy="1051560"/>
          </a:xfrm>
          <a:prstGeom prst="rect">
            <a:avLst/>
          </a:prstGeom>
          <a:solidFill>
            <a:srgbClr val="157F3D"/>
          </a:solidFill>
          <a:ln/>
        </p:spPr>
      </p:sp>
      <p:sp>
        <p:nvSpPr>
          <p:cNvPr id="5" name="Text 3"/>
          <p:cNvSpPr txBox="1"/>
          <p:nvPr/>
        </p:nvSpPr>
        <p:spPr>
          <a:xfrm>
            <a:off x="804672" y="1911096"/>
            <a:ext cx="2435276" cy="566928"/>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26</a:t>
            </a:r>
            <a:endParaRPr lang="en-US" sz="3000" dirty="0"/>
          </a:p>
        </p:txBody>
      </p:sp>
      <p:sp>
        <p:nvSpPr>
          <p:cNvPr id="6" name="Text 4"/>
          <p:cNvSpPr txBox="1"/>
          <p:nvPr/>
        </p:nvSpPr>
        <p:spPr>
          <a:xfrm>
            <a:off x="804672" y="2478024"/>
            <a:ext cx="2398700" cy="530352"/>
          </a:xfrm>
          <a:prstGeom prst="rect">
            <a:avLst/>
          </a:prstGeom>
          <a:noFill/>
          <a:ln/>
        </p:spPr>
        <p:txBody>
          <a:bodyPr wrap="square" lIns="0" tIns="0" rIns="0" bIns="0" rtlCol="0" anchor="t"/>
          <a:lstStyle/>
          <a:p>
            <a:pPr indent="0" marL="0">
              <a:lnSpc>
                <a:spcPct val="110000"/>
              </a:lnSpc>
              <a:buNone/>
            </a:pPr>
            <a:r>
              <a:rPr lang="en-US" sz="1000" dirty="0">
                <a:solidFill>
                  <a:srgbClr val="425446"/>
                </a:solidFill>
                <a:latin typeface="Calibri" pitchFamily="34" charset="0"/>
                <a:ea typeface="Calibri" pitchFamily="34" charset="-122"/>
                <a:cs typeface="Calibri" pitchFamily="34" charset="-120"/>
              </a:rPr>
              <a:t>API endpoints, OpenAPI-documented</a:t>
            </a:r>
            <a:endParaRPr lang="en-US" sz="1000" dirty="0"/>
          </a:p>
        </p:txBody>
      </p:sp>
      <p:sp>
        <p:nvSpPr>
          <p:cNvPr id="7" name="Shape 5"/>
          <p:cNvSpPr/>
          <p:nvPr/>
        </p:nvSpPr>
        <p:spPr>
          <a:xfrm>
            <a:off x="3422828" y="1965960"/>
            <a:ext cx="32004" cy="1051560"/>
          </a:xfrm>
          <a:prstGeom prst="rect">
            <a:avLst/>
          </a:prstGeom>
          <a:solidFill>
            <a:srgbClr val="1F6FB2"/>
          </a:solidFill>
          <a:ln/>
        </p:spPr>
      </p:sp>
      <p:sp>
        <p:nvSpPr>
          <p:cNvPr id="8" name="Text 6"/>
          <p:cNvSpPr txBox="1"/>
          <p:nvPr/>
        </p:nvSpPr>
        <p:spPr>
          <a:xfrm>
            <a:off x="3569132" y="1911096"/>
            <a:ext cx="2435276" cy="566928"/>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90</a:t>
            </a:r>
            <a:endParaRPr lang="en-US" sz="3000" dirty="0"/>
          </a:p>
        </p:txBody>
      </p:sp>
      <p:sp>
        <p:nvSpPr>
          <p:cNvPr id="9" name="Text 7"/>
          <p:cNvSpPr txBox="1"/>
          <p:nvPr/>
        </p:nvSpPr>
        <p:spPr>
          <a:xfrm>
            <a:off x="3569132" y="2478024"/>
            <a:ext cx="2398700" cy="530352"/>
          </a:xfrm>
          <a:prstGeom prst="rect">
            <a:avLst/>
          </a:prstGeom>
          <a:noFill/>
          <a:ln/>
        </p:spPr>
        <p:txBody>
          <a:bodyPr wrap="square" lIns="0" tIns="0" rIns="0" bIns="0" rtlCol="0" anchor="t"/>
          <a:lstStyle/>
          <a:p>
            <a:pPr indent="0" marL="0">
              <a:lnSpc>
                <a:spcPct val="110000"/>
              </a:lnSpc>
              <a:buNone/>
            </a:pPr>
            <a:r>
              <a:rPr lang="en-US" sz="1000" dirty="0">
                <a:solidFill>
                  <a:srgbClr val="425446"/>
                </a:solidFill>
                <a:latin typeface="Calibri" pitchFamily="34" charset="0"/>
                <a:ea typeface="Calibri" pitchFamily="34" charset="-122"/>
                <a:cs typeface="Calibri" pitchFamily="34" charset="-120"/>
              </a:rPr>
              <a:t>automated tests across two services</a:t>
            </a:r>
            <a:endParaRPr lang="en-US" sz="1000" dirty="0"/>
          </a:p>
        </p:txBody>
      </p:sp>
      <p:sp>
        <p:nvSpPr>
          <p:cNvPr id="10" name="Shape 8"/>
          <p:cNvSpPr/>
          <p:nvPr/>
        </p:nvSpPr>
        <p:spPr>
          <a:xfrm>
            <a:off x="6187288" y="1965960"/>
            <a:ext cx="32004" cy="1051560"/>
          </a:xfrm>
          <a:prstGeom prst="rect">
            <a:avLst/>
          </a:prstGeom>
          <a:solidFill>
            <a:srgbClr val="D98A00"/>
          </a:solidFill>
          <a:ln/>
        </p:spPr>
      </p:sp>
      <p:sp>
        <p:nvSpPr>
          <p:cNvPr id="11" name="Text 9"/>
          <p:cNvSpPr txBox="1"/>
          <p:nvPr/>
        </p:nvSpPr>
        <p:spPr>
          <a:xfrm>
            <a:off x="6333592" y="1911096"/>
            <a:ext cx="2435276" cy="566928"/>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10</a:t>
            </a:r>
            <a:endParaRPr lang="en-US" sz="3000" dirty="0"/>
          </a:p>
        </p:txBody>
      </p:sp>
      <p:sp>
        <p:nvSpPr>
          <p:cNvPr id="12" name="Text 10"/>
          <p:cNvSpPr txBox="1"/>
          <p:nvPr/>
        </p:nvSpPr>
        <p:spPr>
          <a:xfrm>
            <a:off x="6333592" y="2478024"/>
            <a:ext cx="2398700" cy="530352"/>
          </a:xfrm>
          <a:prstGeom prst="rect">
            <a:avLst/>
          </a:prstGeom>
          <a:noFill/>
          <a:ln/>
        </p:spPr>
        <p:txBody>
          <a:bodyPr wrap="square" lIns="0" tIns="0" rIns="0" bIns="0" rtlCol="0" anchor="t"/>
          <a:lstStyle/>
          <a:p>
            <a:pPr indent="0" marL="0">
              <a:lnSpc>
                <a:spcPct val="110000"/>
              </a:lnSpc>
              <a:buNone/>
            </a:pPr>
            <a:r>
              <a:rPr lang="en-US" sz="1000" dirty="0">
                <a:solidFill>
                  <a:srgbClr val="425446"/>
                </a:solidFill>
                <a:latin typeface="Calibri" pitchFamily="34" charset="0"/>
                <a:ea typeface="Calibri" pitchFamily="34" charset="-122"/>
                <a:cs typeface="Calibri" pitchFamily="34" charset="-120"/>
              </a:rPr>
              <a:t>screens, 4 languages, light and dark</a:t>
            </a:r>
            <a:endParaRPr lang="en-US" sz="1000" dirty="0"/>
          </a:p>
        </p:txBody>
      </p:sp>
      <p:sp>
        <p:nvSpPr>
          <p:cNvPr id="13" name="Shape 11"/>
          <p:cNvSpPr/>
          <p:nvPr/>
        </p:nvSpPr>
        <p:spPr>
          <a:xfrm>
            <a:off x="8951747" y="1965960"/>
            <a:ext cx="32004" cy="1051560"/>
          </a:xfrm>
          <a:prstGeom prst="rect">
            <a:avLst/>
          </a:prstGeom>
          <a:solidFill>
            <a:srgbClr val="B02A6E"/>
          </a:solidFill>
          <a:ln/>
        </p:spPr>
      </p:sp>
      <p:sp>
        <p:nvSpPr>
          <p:cNvPr id="14" name="Text 12"/>
          <p:cNvSpPr txBox="1"/>
          <p:nvPr/>
        </p:nvSpPr>
        <p:spPr>
          <a:xfrm>
            <a:off x="9098051" y="1911096"/>
            <a:ext cx="2435276" cy="566928"/>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100</a:t>
            </a:r>
            <a:endParaRPr lang="en-US" sz="3000" dirty="0"/>
          </a:p>
        </p:txBody>
      </p:sp>
      <p:sp>
        <p:nvSpPr>
          <p:cNvPr id="15" name="Text 13"/>
          <p:cNvSpPr txBox="1"/>
          <p:nvPr/>
        </p:nvSpPr>
        <p:spPr>
          <a:xfrm>
            <a:off x="9098051" y="2478024"/>
            <a:ext cx="2398700" cy="530352"/>
          </a:xfrm>
          <a:prstGeom prst="rect">
            <a:avLst/>
          </a:prstGeom>
          <a:noFill/>
          <a:ln/>
        </p:spPr>
        <p:txBody>
          <a:bodyPr wrap="square" lIns="0" tIns="0" rIns="0" bIns="0" rtlCol="0" anchor="t"/>
          <a:lstStyle/>
          <a:p>
            <a:pPr indent="0" marL="0">
              <a:lnSpc>
                <a:spcPct val="110000"/>
              </a:lnSpc>
              <a:buNone/>
            </a:pPr>
            <a:r>
              <a:rPr lang="en-US" sz="1000" dirty="0">
                <a:solidFill>
                  <a:srgbClr val="425446"/>
                </a:solidFill>
                <a:latin typeface="Calibri" pitchFamily="34" charset="0"/>
                <a:ea typeface="Calibri" pitchFamily="34" charset="-122"/>
                <a:cs typeface="Calibri" pitchFamily="34" charset="-120"/>
              </a:rPr>
              <a:t>seeded farms across 10 districts</a:t>
            </a:r>
            <a:endParaRPr lang="en-US" sz="1000" dirty="0"/>
          </a:p>
        </p:txBody>
      </p:sp>
      <p:sp>
        <p:nvSpPr>
          <p:cNvPr id="16" name="Text 14"/>
          <p:cNvSpPr txBox="1"/>
          <p:nvPr/>
        </p:nvSpPr>
        <p:spPr>
          <a:xfrm>
            <a:off x="658368" y="3429000"/>
            <a:ext cx="5394960" cy="274320"/>
          </a:xfrm>
          <a:prstGeom prst="rect">
            <a:avLst/>
          </a:prstGeom>
          <a:noFill/>
          <a:ln/>
        </p:spPr>
        <p:txBody>
          <a:bodyPr wrap="square" lIns="0" tIns="0" rIns="0" bIns="0" rtlCol="0" anchor="ctr"/>
          <a:lstStyle/>
          <a:p>
            <a:pPr indent="0" marL="0">
              <a:buNone/>
            </a:pPr>
            <a:r>
              <a:rPr lang="en-US" sz="1250" b="1" dirty="0">
                <a:solidFill>
                  <a:srgbClr val="15211A"/>
                </a:solidFill>
                <a:latin typeface="Calibri" pitchFamily="34" charset="0"/>
                <a:ea typeface="Calibri" pitchFamily="34" charset="-122"/>
                <a:cs typeface="Calibri" pitchFamily="34" charset="-120"/>
              </a:rPr>
              <a:t>Running end to end</a:t>
            </a:r>
            <a:endParaRPr lang="en-US" sz="1250" dirty="0"/>
          </a:p>
        </p:txBody>
      </p:sp>
      <p:sp>
        <p:nvSpPr>
          <p:cNvPr id="17" name="Text 15"/>
          <p:cNvSpPr txBox="1"/>
          <p:nvPr/>
        </p:nvSpPr>
        <p:spPr>
          <a:xfrm>
            <a:off x="658368" y="3749040"/>
            <a:ext cx="5394960" cy="2103120"/>
          </a:xfrm>
          <a:prstGeom prst="rect">
            <a:avLst/>
          </a:prstGeom>
          <a:noFill/>
          <a:ln/>
        </p:spPr>
        <p:txBody>
          <a:bodyPr wrap="square" lIns="0" tIns="0" rIns="0" bIns="0" rtlCol="0" anchor="t"/>
          <a:lstStyle/>
          <a:p>
            <a:pPr indent="0" marL="0">
              <a:lnSpc>
                <a:spcPct val="125000"/>
              </a:lnSpc>
              <a:spcAft>
                <a:spcPts val="600"/>
              </a:spcAft>
              <a:buNone/>
            </a:pPr>
            <a:r>
              <a:rPr lang="en-US" sz="1050" dirty="0">
                <a:solidFill>
                  <a:srgbClr val="425446"/>
                </a:solidFill>
                <a:latin typeface="Calibri" pitchFamily="34" charset="0"/>
                <a:ea typeface="Calibri" pitchFamily="34" charset="-122"/>
                <a:cs typeface="Calibri" pitchFamily="34" charset="-120"/>
              </a:rPr>
              <a:t>—  Farm registration with GPS → district resolution → risk in one flow, against MongoDB Atlas.</a:t>
            </a:r>
            <a:endParaRPr lang="en-US" sz="1050" dirty="0"/>
          </a:p>
          <a:p>
            <a:pPr indent="0" marL="0">
              <a:lnSpc>
                <a:spcPct val="125000"/>
              </a:lnSpc>
              <a:spcAft>
                <a:spcPts val="600"/>
              </a:spcAft>
              <a:buNone/>
            </a:pPr>
            <a:r>
              <a:rPr lang="en-US" sz="1050" dirty="0">
                <a:solidFill>
                  <a:srgbClr val="425446"/>
                </a:solidFill>
                <a:latin typeface="Calibri" pitchFamily="34" charset="0"/>
                <a:ea typeface="Calibri" pitchFamily="34" charset="-122"/>
                <a:cs typeface="Calibri" pitchFamily="34" charset="-120"/>
              </a:rPr>
              <a:t>—  Live Open-Meteo weather and measured seasonal rainfall from the historical archive.</a:t>
            </a:r>
            <a:endParaRPr lang="en-US" sz="1050" dirty="0"/>
          </a:p>
          <a:p>
            <a:pPr indent="0" marL="0">
              <a:lnSpc>
                <a:spcPct val="125000"/>
              </a:lnSpc>
              <a:spcAft>
                <a:spcPts val="600"/>
              </a:spcAft>
              <a:buNone/>
            </a:pPr>
            <a:r>
              <a:rPr lang="en-US" sz="1050" dirty="0">
                <a:solidFill>
                  <a:srgbClr val="425446"/>
                </a:solidFill>
                <a:latin typeface="Calibri" pitchFamily="34" charset="0"/>
                <a:ea typeface="Calibri" pitchFamily="34" charset="-122"/>
                <a:cs typeface="Calibri" pitchFamily="34" charset="-120"/>
              </a:rPr>
              <a:t>—  Leaf scan: 20 ms rejection of non-leaves, 160–260 ms inference, 612 ms for a 3600 px photo.</a:t>
            </a:r>
            <a:endParaRPr lang="en-US" sz="1050" dirty="0"/>
          </a:p>
          <a:p>
            <a:pPr indent="0" marL="0">
              <a:lnSpc>
                <a:spcPct val="125000"/>
              </a:lnSpc>
              <a:spcAft>
                <a:spcPts val="600"/>
              </a:spcAft>
              <a:buNone/>
            </a:pPr>
            <a:r>
              <a:rPr lang="en-US" sz="1050" dirty="0">
                <a:solidFill>
                  <a:srgbClr val="425446"/>
                </a:solidFill>
                <a:latin typeface="Calibri" pitchFamily="34" charset="0"/>
                <a:ea typeface="Calibri" pitchFamily="34" charset="-122"/>
                <a:cs typeface="Calibri" pitchFamily="34" charset="-120"/>
              </a:rPr>
              <a:t>—  District roll-up aggregating 100 farms into risk bands and dominant crops.</a:t>
            </a:r>
            <a:endParaRPr lang="en-US" sz="1050" dirty="0"/>
          </a:p>
        </p:txBody>
      </p:sp>
      <p:sp>
        <p:nvSpPr>
          <p:cNvPr id="18" name="Text 16"/>
          <p:cNvSpPr txBox="1"/>
          <p:nvPr/>
        </p:nvSpPr>
        <p:spPr>
          <a:xfrm>
            <a:off x="6400800" y="3429000"/>
            <a:ext cx="5394960" cy="274320"/>
          </a:xfrm>
          <a:prstGeom prst="rect">
            <a:avLst/>
          </a:prstGeom>
          <a:noFill/>
          <a:ln/>
        </p:spPr>
        <p:txBody>
          <a:bodyPr wrap="square" lIns="0" tIns="0" rIns="0" bIns="0" rtlCol="0" anchor="ctr"/>
          <a:lstStyle/>
          <a:p>
            <a:pPr indent="0" marL="0">
              <a:buNone/>
            </a:pPr>
            <a:r>
              <a:rPr lang="en-US" sz="1250" b="1" dirty="0">
                <a:solidFill>
                  <a:srgbClr val="15211A"/>
                </a:solidFill>
                <a:latin typeface="Calibri" pitchFamily="34" charset="0"/>
                <a:ea typeface="Calibri" pitchFamily="34" charset="-122"/>
                <a:cs typeface="Calibri" pitchFamily="34" charset="-120"/>
              </a:rPr>
              <a:t>Bugs found by testing, not by reading</a:t>
            </a:r>
            <a:endParaRPr lang="en-US" sz="1250" dirty="0"/>
          </a:p>
        </p:txBody>
      </p:sp>
      <p:sp>
        <p:nvSpPr>
          <p:cNvPr id="19" name="Text 17"/>
          <p:cNvSpPr txBox="1"/>
          <p:nvPr/>
        </p:nvSpPr>
        <p:spPr>
          <a:xfrm>
            <a:off x="6400800" y="3749040"/>
            <a:ext cx="5394960" cy="2103120"/>
          </a:xfrm>
          <a:prstGeom prst="rect">
            <a:avLst/>
          </a:prstGeom>
          <a:noFill/>
          <a:ln/>
        </p:spPr>
        <p:txBody>
          <a:bodyPr wrap="square" lIns="0" tIns="0" rIns="0" bIns="0" rtlCol="0" anchor="t"/>
          <a:lstStyle/>
          <a:p>
            <a:pPr indent="0" marL="0">
              <a:lnSpc>
                <a:spcPct val="125000"/>
              </a:lnSpc>
              <a:spcAft>
                <a:spcPts val="600"/>
              </a:spcAft>
              <a:buNone/>
            </a:pPr>
            <a:r>
              <a:rPr lang="en-US" sz="1050" dirty="0">
                <a:solidFill>
                  <a:srgbClr val="425446"/>
                </a:solidFill>
                <a:latin typeface="Calibri" pitchFamily="34" charset="0"/>
                <a:ea typeface="Calibri" pitchFamily="34" charset="-122"/>
                <a:cs typeface="Calibri" pitchFamily="34" charset="-120"/>
              </a:rPr>
              <a:t>—  A confident healthy leaf produced a disease risk of 95/100.</a:t>
            </a:r>
            <a:endParaRPr lang="en-US" sz="1050" dirty="0"/>
          </a:p>
          <a:p>
            <a:pPr indent="0" marL="0">
              <a:lnSpc>
                <a:spcPct val="125000"/>
              </a:lnSpc>
              <a:spcAft>
                <a:spcPts val="600"/>
              </a:spcAft>
              <a:buNone/>
            </a:pPr>
            <a:r>
              <a:rPr lang="en-US" sz="1050" dirty="0">
                <a:solidFill>
                  <a:srgbClr val="425446"/>
                </a:solidFill>
                <a:latin typeface="Calibri" pitchFamily="34" charset="0"/>
                <a:ea typeface="Calibri" pitchFamily="34" charset="-122"/>
                <a:cs typeface="Calibri" pitchFamily="34" charset="-120"/>
              </a:rPr>
              <a:t>—  The leaf detector rejected every diseased colour — rust, blight, necrosis — as “not a plant”.</a:t>
            </a:r>
            <a:endParaRPr lang="en-US" sz="1050" dirty="0"/>
          </a:p>
          <a:p>
            <a:pPr indent="0" marL="0">
              <a:lnSpc>
                <a:spcPct val="125000"/>
              </a:lnSpc>
              <a:spcAft>
                <a:spcPts val="600"/>
              </a:spcAft>
              <a:buNone/>
            </a:pPr>
            <a:r>
              <a:rPr lang="en-US" sz="1050" dirty="0">
                <a:solidFill>
                  <a:srgbClr val="425446"/>
                </a:solidFill>
                <a:latin typeface="Calibri" pitchFamily="34" charset="0"/>
                <a:ea typeface="Calibri" pitchFamily="34" charset="-122"/>
                <a:cs typeface="Calibri" pitchFamily="34" charset="-120"/>
              </a:rPr>
              <a:t>—  Crop rainfall was compared in mm/hour against a mm/season requirement, so that criterion never scored.</a:t>
            </a:r>
            <a:endParaRPr lang="en-US" sz="1050" dirty="0"/>
          </a:p>
          <a:p>
            <a:pPr indent="0" marL="0">
              <a:lnSpc>
                <a:spcPct val="125000"/>
              </a:lnSpc>
              <a:spcAft>
                <a:spcPts val="600"/>
              </a:spcAft>
              <a:buNone/>
            </a:pPr>
            <a:r>
              <a:rPr lang="en-US" sz="1050" dirty="0">
                <a:solidFill>
                  <a:srgbClr val="425446"/>
                </a:solidFill>
                <a:latin typeface="Calibri" pitchFamily="34" charset="0"/>
                <a:ea typeface="Calibri" pitchFamily="34" charset="-122"/>
                <a:cs typeface="Calibri" pitchFamily="34" charset="-120"/>
              </a:rPr>
              <a:t>—  A dead weather API was read as “0 °C, no rain” instead of as missing.</a:t>
            </a:r>
            <a:endParaRPr lang="en-US" sz="1050" dirty="0"/>
          </a:p>
        </p:txBody>
      </p:sp>
      <p:sp>
        <p:nvSpPr>
          <p:cNvPr id="20" name="Text 18"/>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FE1"/>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ROADMAP</a:t>
            </a:r>
            <a:endParaRPr lang="en-US" sz="1000" dirty="0"/>
          </a:p>
        </p:txBody>
      </p:sp>
      <p:sp>
        <p:nvSpPr>
          <p:cNvPr id="3" name="Text 1"/>
          <p:cNvSpPr txBox="1"/>
          <p:nvPr/>
        </p:nvSpPr>
        <p:spPr>
          <a:xfrm>
            <a:off x="658368" y="804672"/>
            <a:ext cx="10874959" cy="960120"/>
          </a:xfrm>
          <a:prstGeom prst="rect">
            <a:avLst/>
          </a:prstGeom>
          <a:noFill/>
          <a:ln/>
        </p:spPr>
        <p:txBody>
          <a:bodyPr wrap="square" lIns="0" tIns="0" rIns="0" bIns="0" rtlCol="0" anchor="t"/>
          <a:lstStyle/>
          <a:p>
            <a:pPr indent="0" marL="0">
              <a:buNone/>
            </a:pPr>
            <a:r>
              <a:rPr lang="en-US" sz="3000" b="1" dirty="0">
                <a:solidFill>
                  <a:srgbClr val="15211A"/>
                </a:solidFill>
                <a:latin typeface="Cambria" pitchFamily="34" charset="0"/>
                <a:ea typeface="Cambria" pitchFamily="34" charset="-122"/>
                <a:cs typeface="Cambria" pitchFamily="34" charset="-120"/>
              </a:rPr>
              <a:t>What comes next, in order.</a:t>
            </a:r>
            <a:endParaRPr lang="en-US" sz="3000" dirty="0"/>
          </a:p>
        </p:txBody>
      </p:sp>
      <p:sp>
        <p:nvSpPr>
          <p:cNvPr id="4" name="Text 2"/>
          <p:cNvSpPr txBox="1"/>
          <p:nvPr/>
        </p:nvSpPr>
        <p:spPr>
          <a:xfrm>
            <a:off x="658368" y="17830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Ranked by value to a farmer or an officer, divided by effort.</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2743200"/>
          <a:ext cx="10874959" cy="914400"/>
        </p:xfrm>
        <a:graphic>
          <a:graphicData uri="http://schemas.openxmlformats.org/drawingml/2006/table">
            <a:tbl>
              <a:tblPr/>
              <a:tblGrid>
                <a:gridCol w="2926080"/>
                <a:gridCol w="6583680"/>
                <a:gridCol w="1371600"/>
              </a:tblGrid>
              <a:tr h="0">
                <a:tc>
                  <a:txBody>
                    <a:bodyPr/>
                    <a:lstStyle/>
                    <a:p>
                      <a:pPr indent="0" marL="0">
                        <a:buNone/>
                      </a:pPr>
                      <a:r>
                        <a:rPr lang="en-US" sz="900" b="1" dirty="0">
                          <a:solidFill>
                            <a:srgbClr val="64786A"/>
                          </a:solidFill>
                          <a:latin typeface="Calibri" pitchFamily="34" charset="0"/>
                          <a:ea typeface="Calibri" pitchFamily="34" charset="-122"/>
                          <a:cs typeface="Calibri" pitchFamily="34" charset="-120"/>
                        </a:rPr>
                        <a:t>Next</a:t>
                      </a:r>
                      <a:endParaRPr lang="en-US" sz="90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E6EFE1"/>
                    </a:solidFill>
                  </a:tcPr>
                </a:tc>
                <a:tc>
                  <a:txBody>
                    <a:bodyPr/>
                    <a:lstStyle/>
                    <a:p>
                      <a:pPr indent="0" marL="0">
                        <a:buNone/>
                      </a:pPr>
                      <a:r>
                        <a:rPr lang="en-US" sz="900" b="1" dirty="0">
                          <a:solidFill>
                            <a:srgbClr val="64786A"/>
                          </a:solidFill>
                          <a:latin typeface="Calibri" pitchFamily="34" charset="0"/>
                          <a:ea typeface="Calibri" pitchFamily="34" charset="-122"/>
                          <a:cs typeface="Calibri" pitchFamily="34" charset="-120"/>
                        </a:rPr>
                        <a:t>What it unlocks</a:t>
                      </a:r>
                      <a:endParaRPr lang="en-US" sz="90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E6EFE1"/>
                    </a:solidFill>
                  </a:tcPr>
                </a:tc>
                <a:tc>
                  <a:txBody>
                    <a:bodyPr/>
                    <a:lstStyle/>
                    <a:p>
                      <a:pPr indent="0" marL="0">
                        <a:buNone/>
                      </a:pPr>
                      <a:r>
                        <a:rPr lang="en-US" sz="900" b="1" dirty="0">
                          <a:solidFill>
                            <a:srgbClr val="64786A"/>
                          </a:solidFill>
                          <a:latin typeface="Calibri" pitchFamily="34" charset="0"/>
                          <a:ea typeface="Calibri" pitchFamily="34" charset="-122"/>
                          <a:cs typeface="Calibri" pitchFamily="34" charset="-120"/>
                        </a:rPr>
                        <a:t>Effort</a:t>
                      </a:r>
                      <a:endParaRPr lang="en-US" sz="90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E6EFE1"/>
                    </a:solidFill>
                  </a:tcPr>
                </a:tc>
              </a:tr>
              <a:tr h="0">
                <a:tc>
                  <a:txBody>
                    <a:bodyPr/>
                    <a:lstStyle/>
                    <a:p>
                      <a:pPr indent="0" marL="0">
                        <a:buNone/>
                      </a:pPr>
                      <a:r>
                        <a:rPr lang="en-US" sz="1050" b="1" dirty="0">
                          <a:solidFill>
                            <a:srgbClr val="15211A"/>
                          </a:solidFill>
                          <a:latin typeface="Calibri" pitchFamily="34" charset="0"/>
                          <a:ea typeface="Calibri" pitchFamily="34" charset="-122"/>
                          <a:cs typeface="Calibri" pitchFamily="34" charset="-120"/>
                        </a:rPr>
                        <a:t>Federation layer</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Published schema plus peer endpoints — the interoperable network the challenge asks for</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1 day</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5211A"/>
                          </a:solidFill>
                          <a:latin typeface="Calibri" pitchFamily="34" charset="0"/>
                          <a:ea typeface="Calibri" pitchFamily="34" charset="-122"/>
                          <a:cs typeface="Calibri" pitchFamily="34" charset="-120"/>
                        </a:rPr>
                        <a:t>FAO crop coefficients</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Replaces prototype constants with citable FAO-56 values</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2 hours</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5211A"/>
                          </a:solidFill>
                          <a:latin typeface="Calibri" pitchFamily="34" charset="0"/>
                          <a:ea typeface="Calibri" pitchFamily="34" charset="-122"/>
                          <a:cs typeface="Calibri" pitchFamily="34" charset="-120"/>
                        </a:rPr>
                        <a:t>Regenerative scoring</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Rotation-aware ranking: a legume after a cereal scores above the cereal repeated</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0.5 day</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5211A"/>
                          </a:solidFill>
                          <a:latin typeface="Calibri" pitchFamily="34" charset="0"/>
                          <a:ea typeface="Calibri" pitchFamily="34" charset="-122"/>
                          <a:cs typeface="Calibri" pitchFamily="34" charset="-120"/>
                        </a:rPr>
                        <a:t>Vertex AI AutoML</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Next-season risk forecast trained on the BigQuery history, shown beside the computed score</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1 day</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5211A"/>
                          </a:solidFill>
                          <a:latin typeface="Calibri" pitchFamily="34" charset="0"/>
                          <a:ea typeface="Calibri" pitchFamily="34" charset="-122"/>
                          <a:cs typeface="Calibri" pitchFamily="34" charset="-120"/>
                        </a:rPr>
                        <a:t>Indian crop disease model</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Wheat, rice, mustard, chickpea — the crops the current checkpoint has never seen</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Ongoing</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r h="0">
                <a:tc>
                  <a:txBody>
                    <a:bodyPr/>
                    <a:lstStyle/>
                    <a:p>
                      <a:pPr indent="0" marL="0">
                        <a:buNone/>
                      </a:pPr>
                      <a:r>
                        <a:rPr lang="en-US" sz="1050" b="1" dirty="0">
                          <a:solidFill>
                            <a:srgbClr val="15211A"/>
                          </a:solidFill>
                          <a:latin typeface="Calibri" pitchFamily="34" charset="0"/>
                          <a:ea typeface="Calibri" pitchFamily="34" charset="-122"/>
                          <a:cs typeface="Calibri" pitchFamily="34" charset="-120"/>
                        </a:rPr>
                        <a:t>ISRO Bhuvan · IMD</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Indian sovereign satellite and meteorological sources behind the existing provider interface</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c>
                  <a:txBody>
                    <a:bodyPr/>
                    <a:lstStyle/>
                    <a:p>
                      <a:pPr indent="0" marL="0">
                        <a:buNone/>
                      </a:pPr>
                      <a:r>
                        <a:rPr lang="en-US" sz="1050" dirty="0">
                          <a:solidFill>
                            <a:srgbClr val="425446"/>
                          </a:solidFill>
                          <a:latin typeface="Calibri" pitchFamily="34" charset="0"/>
                          <a:ea typeface="Calibri" pitchFamily="34" charset="-122"/>
                          <a:cs typeface="Calibri" pitchFamily="34" charset="-120"/>
                        </a:rPr>
                        <a:t>1 day</a:t>
                      </a:r>
                      <a:endParaRPr lang="en-US" sz="1050" dirty="0">
                        <a:latin typeface="Calibri" charset="0"/>
                        <a:ea typeface="Calibri" charset="0"/>
                        <a:cs typeface="Calibri" charset="0"/>
                      </a:endParaRPr>
                    </a:p>
                  </a:txBody>
                  <a:tcPr marL="76200" marR="76200" marT="76200" marB="76200" anchor="t">
                    <a:lnL w="6350" cap="flat" cmpd="sng" algn="ctr">
                      <a:solidFill>
                        <a:srgbClr val="CFE0C8"/>
                      </a:solidFill>
                      <a:prstDash val="solid"/>
                      <a:round/>
                      <a:headEnd type="none" w="med" len="med"/>
                      <a:tailEnd type="none" w="med" len="med"/>
                    </a:lnL>
                    <a:lnR w="6350" cap="flat" cmpd="sng" algn="ctr">
                      <a:solidFill>
                        <a:srgbClr val="CFE0C8"/>
                      </a:solidFill>
                      <a:prstDash val="solid"/>
                      <a:round/>
                      <a:headEnd type="none" w="med" len="med"/>
                      <a:tailEnd type="none" w="med" len="med"/>
                    </a:lnR>
                    <a:lnT w="6350" cap="flat" cmpd="sng" algn="ctr">
                      <a:solidFill>
                        <a:srgbClr val="CFE0C8"/>
                      </a:solidFill>
                      <a:prstDash val="solid"/>
                      <a:round/>
                      <a:headEnd type="none" w="med" len="med"/>
                      <a:tailEnd type="none" w="med" len="med"/>
                    </a:lnT>
                    <a:lnB w="6350" cap="flat" cmpd="sng" algn="ctr">
                      <a:solidFill>
                        <a:srgbClr val="CFE0C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6EFE1"/>
        </a:solidFill>
      </p:bgPr>
    </p:bg>
    <p:spTree>
      <p:nvGrpSpPr>
        <p:cNvPr id="1" name=""/>
        <p:cNvGrpSpPr/>
        <p:nvPr/>
      </p:nvGrpSpPr>
      <p:grpSpPr>
        <a:xfrm>
          <a:off x="0" y="0"/>
          <a:ext cx="0" cy="0"/>
          <a:chOff x="0" y="0"/>
          <a:chExt cx="0" cy="0"/>
        </a:xfrm>
      </p:grpSpPr>
      <p:sp>
        <p:nvSpPr>
          <p:cNvPr id="2" name="Text 0"/>
          <p:cNvSpPr txBox="1"/>
          <p:nvPr/>
        </p:nvSpPr>
        <p:spPr>
          <a:xfrm>
            <a:off x="658368" y="457200"/>
            <a:ext cx="10874959" cy="274320"/>
          </a:xfrm>
          <a:prstGeom prst="rect">
            <a:avLst/>
          </a:prstGeom>
          <a:noFill/>
          <a:ln/>
        </p:spPr>
        <p:txBody>
          <a:bodyPr wrap="square" lIns="0" tIns="0" rIns="0" bIns="0" rtlCol="0" anchor="ctr"/>
          <a:lstStyle/>
          <a:p>
            <a:pPr indent="0" marL="0">
              <a:buNone/>
            </a:pPr>
            <a:r>
              <a:rPr lang="en-US" sz="1000" b="1" spc="200" kern="0" dirty="0">
                <a:solidFill>
                  <a:srgbClr val="157F3D"/>
                </a:solidFill>
                <a:latin typeface="Calibri" pitchFamily="34" charset="0"/>
                <a:ea typeface="Calibri" pitchFamily="34" charset="-122"/>
                <a:cs typeface="Calibri" pitchFamily="34" charset="-120"/>
              </a:rPr>
              <a:t>AGRIMITRA CLIMATE</a:t>
            </a:r>
            <a:endParaRPr lang="en-US" sz="1000" dirty="0"/>
          </a:p>
        </p:txBody>
      </p:sp>
      <p:sp>
        <p:nvSpPr>
          <p:cNvPr id="3" name="Text 1"/>
          <p:cNvSpPr txBox="1"/>
          <p:nvPr/>
        </p:nvSpPr>
        <p:spPr>
          <a:xfrm>
            <a:off x="658368" y="914400"/>
            <a:ext cx="7829971" cy="1554480"/>
          </a:xfrm>
          <a:prstGeom prst="rect">
            <a:avLst/>
          </a:prstGeom>
          <a:noFill/>
          <a:ln/>
        </p:spPr>
        <p:txBody>
          <a:bodyPr wrap="square" lIns="0" tIns="0" rIns="0" bIns="0" rtlCol="0" anchor="t"/>
          <a:lstStyle/>
          <a:p>
            <a:pPr indent="0" marL="0">
              <a:lnSpc>
                <a:spcPct val="95000"/>
              </a:lnSpc>
              <a:buNone/>
            </a:pPr>
            <a:r>
              <a:rPr lang="en-US" sz="4600" b="1" dirty="0">
                <a:solidFill>
                  <a:srgbClr val="15211A"/>
                </a:solidFill>
                <a:latin typeface="Cambria" pitchFamily="34" charset="0"/>
                <a:ea typeface="Cambria" pitchFamily="34" charset="-122"/>
                <a:cs typeface="Cambria" pitchFamily="34" charset="-120"/>
              </a:rPr>
              <a:t>Give the field a voice it can act on.</a:t>
            </a:r>
            <a:endParaRPr lang="en-US" sz="4600" dirty="0"/>
          </a:p>
        </p:txBody>
      </p:sp>
      <p:sp>
        <p:nvSpPr>
          <p:cNvPr id="4" name="Text 2"/>
          <p:cNvSpPr txBox="1"/>
          <p:nvPr/>
        </p:nvSpPr>
        <p:spPr>
          <a:xfrm>
            <a:off x="658368" y="2697480"/>
            <a:ext cx="8917467" cy="658368"/>
          </a:xfrm>
          <a:prstGeom prst="rect">
            <a:avLst/>
          </a:prstGeom>
          <a:noFill/>
          <a:ln/>
        </p:spPr>
        <p:txBody>
          <a:bodyPr wrap="square" lIns="0" tIns="0" rIns="0" bIns="0" rtlCol="0" anchor="t"/>
          <a:lstStyle/>
          <a:p>
            <a:pPr indent="0" marL="0">
              <a:lnSpc>
                <a:spcPct val="120000"/>
              </a:lnSpc>
              <a:buNone/>
            </a:pPr>
            <a:r>
              <a:rPr lang="en-US" sz="1400" dirty="0">
                <a:solidFill>
                  <a:srgbClr val="425446"/>
                </a:solidFill>
                <a:latin typeface="Calibri" pitchFamily="34" charset="0"/>
                <a:ea typeface="Calibri" pitchFamily="34" charset="-122"/>
                <a:cs typeface="Calibri" pitchFamily="34" charset="-120"/>
              </a:rPr>
              <a:t>Not another weather app. Not another disease scanner. The first layer that reads a specific field across every signal available — and is honest about the ones it is missing.</a:t>
            </a:r>
            <a:endParaRPr lang="en-US" sz="1400" dirty="0"/>
          </a:p>
        </p:txBody>
      </p:sp>
      <p:sp>
        <p:nvSpPr>
          <p:cNvPr id="5" name="Shape 3"/>
          <p:cNvSpPr/>
          <p:nvPr/>
        </p:nvSpPr>
        <p:spPr>
          <a:xfrm>
            <a:off x="658368" y="3657600"/>
            <a:ext cx="3472586" cy="1371600"/>
          </a:xfrm>
          <a:prstGeom prst="roundRect">
            <a:avLst>
              <a:gd name="adj" fmla="val 4000"/>
            </a:avLst>
          </a:prstGeom>
          <a:solidFill>
            <a:srgbClr val="FFFFFF"/>
          </a:solidFill>
          <a:ln w="9525">
            <a:solidFill>
              <a:srgbClr val="CFE0C8"/>
            </a:solidFill>
            <a:prstDash val="solid"/>
          </a:ln>
        </p:spPr>
      </p:sp>
      <p:sp>
        <p:nvSpPr>
          <p:cNvPr id="6" name="Text 4"/>
          <p:cNvSpPr txBox="1"/>
          <p:nvPr/>
        </p:nvSpPr>
        <p:spPr>
          <a:xfrm>
            <a:off x="841248" y="3822192"/>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For the farmer</a:t>
            </a:r>
            <a:endParaRPr lang="en-US" sz="1250" dirty="0"/>
          </a:p>
        </p:txBody>
      </p:sp>
      <p:sp>
        <p:nvSpPr>
          <p:cNvPr id="7" name="Text 5"/>
          <p:cNvSpPr txBox="1"/>
          <p:nvPr/>
        </p:nvSpPr>
        <p:spPr>
          <a:xfrm>
            <a:off x="841248" y="4224528"/>
            <a:ext cx="3106826" cy="67665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A weekly decision, in their language, with the working shown.</a:t>
            </a:r>
            <a:endParaRPr lang="en-US" sz="1000" dirty="0"/>
          </a:p>
        </p:txBody>
      </p:sp>
      <p:sp>
        <p:nvSpPr>
          <p:cNvPr id="8" name="Shape 6"/>
          <p:cNvSpPr/>
          <p:nvPr/>
        </p:nvSpPr>
        <p:spPr>
          <a:xfrm>
            <a:off x="4359554" y="3657600"/>
            <a:ext cx="3472586" cy="1371600"/>
          </a:xfrm>
          <a:prstGeom prst="roundRect">
            <a:avLst>
              <a:gd name="adj" fmla="val 4000"/>
            </a:avLst>
          </a:prstGeom>
          <a:solidFill>
            <a:srgbClr val="FFFFFF"/>
          </a:solidFill>
          <a:ln w="9525">
            <a:solidFill>
              <a:srgbClr val="CFE0C8"/>
            </a:solidFill>
            <a:prstDash val="solid"/>
          </a:ln>
        </p:spPr>
      </p:sp>
      <p:sp>
        <p:nvSpPr>
          <p:cNvPr id="9" name="Text 7"/>
          <p:cNvSpPr txBox="1"/>
          <p:nvPr/>
        </p:nvSpPr>
        <p:spPr>
          <a:xfrm>
            <a:off x="4542434" y="3822192"/>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For the officer</a:t>
            </a:r>
            <a:endParaRPr lang="en-US" sz="1250" dirty="0"/>
          </a:p>
        </p:txBody>
      </p:sp>
      <p:sp>
        <p:nvSpPr>
          <p:cNvPr id="10" name="Text 8"/>
          <p:cNvSpPr txBox="1"/>
          <p:nvPr/>
        </p:nvSpPr>
        <p:spPr>
          <a:xfrm>
            <a:off x="4542434" y="4224528"/>
            <a:ext cx="3106826" cy="67665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District risk hotspots and AI intervention priorities, from real aggregation.</a:t>
            </a:r>
            <a:endParaRPr lang="en-US" sz="1000" dirty="0"/>
          </a:p>
        </p:txBody>
      </p:sp>
      <p:sp>
        <p:nvSpPr>
          <p:cNvPr id="11" name="Shape 9"/>
          <p:cNvSpPr/>
          <p:nvPr/>
        </p:nvSpPr>
        <p:spPr>
          <a:xfrm>
            <a:off x="8060741" y="3657600"/>
            <a:ext cx="3472586" cy="1371600"/>
          </a:xfrm>
          <a:prstGeom prst="roundRect">
            <a:avLst>
              <a:gd name="adj" fmla="val 4000"/>
            </a:avLst>
          </a:prstGeom>
          <a:solidFill>
            <a:srgbClr val="FFFFFF"/>
          </a:solidFill>
          <a:ln w="9525">
            <a:solidFill>
              <a:srgbClr val="CFE0C8"/>
            </a:solidFill>
            <a:prstDash val="solid"/>
          </a:ln>
        </p:spPr>
      </p:sp>
      <p:sp>
        <p:nvSpPr>
          <p:cNvPr id="12" name="Text 10"/>
          <p:cNvSpPr txBox="1"/>
          <p:nvPr/>
        </p:nvSpPr>
        <p:spPr>
          <a:xfrm>
            <a:off x="8243621" y="3822192"/>
            <a:ext cx="3106826" cy="384048"/>
          </a:xfrm>
          <a:prstGeom prst="rect">
            <a:avLst/>
          </a:prstGeom>
          <a:noFill/>
          <a:ln/>
        </p:spPr>
        <p:txBody>
          <a:bodyPr wrap="square" lIns="0" tIns="0" rIns="0" bIns="0" rtlCol="0" anchor="t"/>
          <a:lstStyle/>
          <a:p>
            <a:pPr indent="0" marL="0">
              <a:buNone/>
            </a:pPr>
            <a:r>
              <a:rPr lang="en-US" sz="1250" b="1" dirty="0">
                <a:solidFill>
                  <a:srgbClr val="15211A"/>
                </a:solidFill>
                <a:latin typeface="Calibri" pitchFamily="34" charset="0"/>
                <a:ea typeface="Calibri" pitchFamily="34" charset="-122"/>
                <a:cs typeface="Calibri" pitchFamily="34" charset="-120"/>
              </a:rPr>
              <a:t>For the state</a:t>
            </a:r>
            <a:endParaRPr lang="en-US" sz="1250" dirty="0"/>
          </a:p>
        </p:txBody>
      </p:sp>
      <p:sp>
        <p:nvSpPr>
          <p:cNvPr id="13" name="Text 11"/>
          <p:cNvSpPr txBox="1"/>
          <p:nvPr/>
        </p:nvSpPr>
        <p:spPr>
          <a:xfrm>
            <a:off x="8243621" y="4224528"/>
            <a:ext cx="3106826" cy="676656"/>
          </a:xfrm>
          <a:prstGeom prst="rect">
            <a:avLst/>
          </a:prstGeom>
          <a:noFill/>
          <a:ln/>
        </p:spPr>
        <p:txBody>
          <a:bodyPr wrap="square" lIns="0" tIns="0" rIns="0" bIns="0" rtlCol="0" anchor="t"/>
          <a:lstStyle/>
          <a:p>
            <a:pPr indent="0" marL="0">
              <a:lnSpc>
                <a:spcPct val="115000"/>
              </a:lnSpc>
              <a:buNone/>
            </a:pPr>
            <a:r>
              <a:rPr lang="en-US" sz="1000" dirty="0">
                <a:solidFill>
                  <a:srgbClr val="425446"/>
                </a:solidFill>
                <a:latin typeface="Calibri" pitchFamily="34" charset="0"/>
                <a:ea typeface="Calibri" pitchFamily="34" charset="-122"/>
                <a:cs typeface="Calibri" pitchFamily="34" charset="-120"/>
              </a:rPr>
              <a:t>A crop model and a risk model any other state can adopt, critique or replace.</a:t>
            </a:r>
            <a:endParaRPr lang="en-US" sz="1000" dirty="0"/>
          </a:p>
        </p:txBody>
      </p:sp>
      <p:sp>
        <p:nvSpPr>
          <p:cNvPr id="14" name="Text 12"/>
          <p:cNvSpPr txBox="1"/>
          <p:nvPr/>
        </p:nvSpPr>
        <p:spPr>
          <a:xfrm>
            <a:off x="658368" y="5303520"/>
            <a:ext cx="10874959" cy="1005840"/>
          </a:xfrm>
          <a:prstGeom prst="rect">
            <a:avLst/>
          </a:prstGeom>
          <a:noFill/>
          <a:ln/>
        </p:spPr>
        <p:txBody>
          <a:bodyPr wrap="square" lIns="0" tIns="0" rIns="0" bIns="0" rtlCol="0" anchor="t"/>
          <a:lstStyle/>
          <a:p>
            <a:pPr indent="0" marL="0">
              <a:lnSpc>
                <a:spcPct val="120000"/>
              </a:lnSpc>
              <a:buNone/>
            </a:pPr>
            <a:r>
              <a:rPr lang="en-US" sz="800" dirty="0">
                <a:solidFill>
                  <a:srgbClr val="64786A"/>
                </a:solidFill>
                <a:latin typeface="Calibri" pitchFamily="34" charset="0"/>
                <a:ea typeface="Calibri" pitchFamily="34" charset="-122"/>
                <a:cs typeface="Calibri" pitchFamily="34" charset="-120"/>
              </a:rPr>
              <a:t>Sources — Agriculture Census 2015–16 (86.1% of holdings under 2 ha) · ICAR / CEEW on crop losses (15–25% of yield; ₹0.9–1.4 lakh crore annually; weeds 12.5%, insects 9.5%, disease 6.5%, other 4.5%) · extension coverage ≈ 1 officer per 1,000 farmers; early accurate guidance reduces losses 30–60% · Tracxn, Inc42 and AgroSpectrum India on funding and market size · company profiles from Tracxn, TechCrunch and Decentro. Placements on slide 7 are our reading of each product's primary positioning.</a:t>
            </a:r>
            <a:endParaRPr lang="en-US" sz="800" dirty="0"/>
          </a:p>
        </p:txBody>
      </p:sp>
      <p:sp>
        <p:nvSpPr>
          <p:cNvPr id="15" name="Text 13"/>
          <p:cNvSpPr txBox="1"/>
          <p:nvPr/>
        </p:nvSpPr>
        <p:spPr>
          <a:xfrm>
            <a:off x="10984687" y="6291072"/>
            <a:ext cx="548640" cy="274320"/>
          </a:xfrm>
          <a:prstGeom prst="rect">
            <a:avLst/>
          </a:prstGeom>
          <a:noFill/>
          <a:ln/>
        </p:spPr>
        <p:txBody>
          <a:bodyPr wrap="square" lIns="0" tIns="0" rIns="0" bIns="0" rtlCol="0" anchor="ctr"/>
          <a:lstStyle/>
          <a:p>
            <a:pPr algn="r" indent="0" marL="0">
              <a:buNone/>
            </a:pPr>
            <a:r>
              <a:rPr lang="en-US" sz="900" dirty="0">
                <a:solidFill>
                  <a:srgbClr val="64786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AgriMitra Climate — Google AI Builder Cup</dc:title>
  <dc:subject>PptxGenJS Presentation</dc:subject>
  <dc:creator>AgriMitra Climate</dc:creator>
  <cp:lastModifiedBy>AgriMitra Climate</cp:lastModifiedBy>
  <cp:revision>1</cp:revision>
  <dcterms:created xsi:type="dcterms:W3CDTF">2026-09-30T16:03:23Z</dcterms:created>
  <dcterms:modified xsi:type="dcterms:W3CDTF">2026-09-30T16:03:23Z</dcterms:modified>
</cp:coreProperties>
</file>